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 任务定位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omni 后训练框架 + 双 demo,服务公司内多个潜在 omni 客户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576072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5760720" cy="38404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项目交付物(In-Scope)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280160"/>
            <a:ext cx="55412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Framework(主交付)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可移交的 omni 后训练流水线代码包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目标: </a:t>
            </a:r>
            <a:pPr indent="0" marL="0">
              <a:buNone/>
            </a:pPr>
            <a:r>
              <a:rPr lang="en-US" sz="900" b="1" i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Data/Train/RL/Eval/Deploy 5 层全 yaml 配置,客户改配置即可继续训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" y="1914144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950720"/>
            <a:ext cx="55412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Demo A(proxy)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Qwen3.5-4B-base + V/A 训出 omni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目标: </a:t>
            </a:r>
            <a:pPr indent="0" marL="0">
              <a:buNone/>
            </a:pPr>
            <a:r>
              <a:rPr lang="en-US" sz="900" b="1" i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 T-12→T,验证流水线 + alpha 版交付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2584704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621280"/>
            <a:ext cx="55412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Demo B(real)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自家 10B-A2B + V/A 训出 omni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目标: </a:t>
            </a:r>
            <a:pPr indent="0" marL="0">
              <a:buNone/>
            </a:pPr>
            <a:r>
              <a:rPr lang="en-US" sz="900" b="1" i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B T→T+18,beta 版交付,真实骨干效果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3255264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291840"/>
            <a:ext cx="55412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能力维度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/ A / Vid / T 多模态理解(无生成)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目标: </a:t>
            </a:r>
            <a:pPr indent="0" marL="0">
              <a:buNone/>
            </a:pPr>
            <a:r>
              <a:rPr lang="en-US" sz="900" b="1" i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维公开 benchmark 全覆盖,多客户用例都需要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3925824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962400"/>
            <a:ext cx="55412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上下文长度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16K 起步,扩到 48K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目标: </a:t>
            </a:r>
            <a:pPr indent="0" marL="0">
              <a:buNone/>
            </a:pPr>
            <a:r>
              <a:rPr lang="en-US" sz="900" b="1" i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60s 视频 + EVS 压缩需 30-50K 实测,Stage 5 必跑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" y="4596384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632960"/>
            <a:ext cx="55412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客户体验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clone → 改 yaml → 训 → 评 → 部署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目标: </a:t>
            </a:r>
            <a:pPr indent="0" marL="0">
              <a:buNone/>
            </a:pPr>
            <a:r>
              <a:rPr lang="en-US" sz="900" b="1" i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我方多承担(配置/文档/dry-run),客户工作越少越好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77724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777240"/>
            <a:ext cx="5532120" cy="38404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82296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明确不做(Out-of-Scope)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73368" y="1234440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任何模态生成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 / 语音 / 视频 / TTS,全部不做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73368" y="1527048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256K 长上下文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6 跳过,广告/UI 等场景 48K 已够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73368" y="1819656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客户业务数据接触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我方无访问,框架交付后客户自训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73368" y="2112264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业务指标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P/R/F1/上线判定 = 客户决定,不归我方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2606040"/>
            <a:ext cx="55321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2606040"/>
            <a:ext cx="5532120" cy="38404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65176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 多客户假设 + 技术栈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73368" y="3063240"/>
            <a:ext cx="5312664" cy="23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首发客户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广告内容审核(图/视频/音频 → 违规分类)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73368" y="3312160"/>
            <a:ext cx="5312664" cy="23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潜在客户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教育(题目识别)/ UI 测试 / 医疗影像 / 电商商品识别等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73368" y="3561080"/>
            <a:ext cx="5312664" cy="23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公开数据(LLaVA-OV / Cambrian / Granary 等),客户自带数据继续训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73368" y="3810000"/>
            <a:ext cx="5312664" cy="23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公开 benchmark 做能力证明(MMMU/VideoMME/OpenASR/...)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73368" y="4058920"/>
            <a:ext cx="5312664" cy="23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 base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Qwen3.5-4B-base(dense)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73368" y="4307840"/>
            <a:ext cx="5312664" cy="23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B base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自家 10B-A2B(MoE 新架构)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73368" y="4556760"/>
            <a:ext cx="5312664" cy="23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训练栈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HF transformers + FSDP2(避开 Megatron)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73368" y="4805680"/>
            <a:ext cx="5312664" cy="23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栈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verl(volcengine/verl)+ FSDP + vLLM rollout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73368" y="5054600"/>
            <a:ext cx="5312664" cy="23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Qwen3.5-4B 词表 + ~25 MM special token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项目本质改写: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 不是「训一个模型」,而是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「建一个可移交的 omni 后训练框架」+ 双 demo 证明能力,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多客户 + 我方多承担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不为单一客户裁剪: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维能力全保留(广告需视觉/视频/OCR/中文,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教育需 math,UI 需 GUI agent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,医疗需文档),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去掉一维就少一类客户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上下文修正: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16K 不够装 60s 视频 + EVS 压缩(实测 30-50K),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(广告 + 长广告图 + 视频客户都需要),Stage 5 主线保留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48K 是必须 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Qwen3.5-4B-base 模型卡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(HuggingFace)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verl(volcengine/verl)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(OSS RL 框架)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三篇 reference design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(Nemotron / LongCat / Qwen3.5)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框架架构 5 层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客户改 yaml 即可继续 SFT/RL,五层全模块化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6858000" cy="4617720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层架构 + 模块化交付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6675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1371600" cy="77724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 Deploy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2344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vLLM serve template    ▸ Dockerfile + K8s yaml    ▸ REST API + health check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06440" y="1280160"/>
            <a:ext cx="1280160" cy="594360"/>
          </a:xfrm>
          <a:prstGeom prst="rect">
            <a:avLst/>
          </a:prstGeom>
          <a:solidFill>
            <a:srgbClr val="FFF2CC"/>
          </a:solidFill>
          <a:ln w="9525">
            <a:solidFill>
              <a:srgbClr val="7030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12801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03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deploy.yaml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6675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11680"/>
            <a:ext cx="1371600" cy="7772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1168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Eval Layer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20574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VLMEvalKit fork    ▸ 8 维公开 benchmark 全套    ▸ 客户自定义 eval interface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06440" y="2103120"/>
            <a:ext cx="1280160" cy="594360"/>
          </a:xfrm>
          <a:prstGeom prst="rect">
            <a:avLst/>
          </a:prstGeom>
          <a:solidFill>
            <a:srgbClr val="FFF2CC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21031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eval.yaml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6675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834640"/>
            <a:ext cx="1371600" cy="7772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83464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RL Layer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28803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verl + FSDP + vLLM rollout    ▸ GSPO / GRPO 切换    ▸ MPO / Image-RL / Text-RL S2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06440" y="2926080"/>
            <a:ext cx="1280160" cy="594360"/>
          </a:xfrm>
          <a:prstGeom prst="rect">
            <a:avLst/>
          </a:prstGeom>
          <a:solidFill>
            <a:srgbClr val="FFF2CC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29260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rl.yaml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6675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657600"/>
            <a:ext cx="1371600" cy="7772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576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Training Layer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20240" y="37033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HF transformers + FSDP2    ▸ Stage 0-5 全 yaml    ▸ MoE-aware wrap policy + ctx-parallel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06440" y="3749040"/>
            <a:ext cx="1280160" cy="594360"/>
          </a:xfrm>
          <a:prstGeom prst="rect">
            <a:avLst/>
          </a:prstGeom>
          <a:solidFill>
            <a:srgbClr val="FFF2CC"/>
          </a:solidFill>
          <a:ln w="9525">
            <a:solidFill>
              <a:srgbClr val="ED7D3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06440" y="374904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train.yaml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480560"/>
            <a:ext cx="6675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480560"/>
            <a:ext cx="1371600" cy="77724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48056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Data Layer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920240" y="45262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Webdataset + tokenize    ▸ Encoder hot-swap    ▸ OPD 配对生成 + Cluster Rebal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06440" y="4572000"/>
            <a:ext cx="1280160" cy="594360"/>
          </a:xfrm>
          <a:prstGeom prst="rect">
            <a:avLst/>
          </a:prstGeom>
          <a:solidFill>
            <a:srgbClr val="FFF2CC"/>
          </a:solidFill>
          <a:ln w="9525">
            <a:solidFill>
              <a:srgbClr val="00B0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06440" y="457200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data.yaml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60920" y="777240"/>
            <a:ext cx="443484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60920" y="777240"/>
            <a:ext cx="4434840" cy="38404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52360" y="82296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☞ 客户工作流(目标:&lt; 5 步)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498080" y="1417320"/>
            <a:ext cx="384048" cy="38404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955280" y="132588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clone &lt;我方框架&gt;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拿到完整代码 + 双 demo ckpt + docs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690104" y="2039112"/>
            <a:ext cx="0" cy="9144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98080" y="2221992"/>
            <a:ext cx="384048" cy="38404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0" y="2221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955280" y="213055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准备数据(按格式)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prepare_data.py --input my.jsonl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自动 tokenize + webdataset 分片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690104" y="2843784"/>
            <a:ext cx="0" cy="9144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98080" y="3026664"/>
            <a:ext cx="384048" cy="384048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0" y="3026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955280" y="2935224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 yaml 配置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configs/sft.yaml + rl.yaml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 stage / 算力 / 模态权重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690104" y="3648456"/>
            <a:ext cx="0" cy="9144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98080" y="3831336"/>
            <a:ext cx="384048" cy="384048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98080" y="3831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955280" y="3739896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一键训练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train.py --config sft.yaml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训完自动 eval + WandB log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690104" y="4453128"/>
            <a:ext cx="0" cy="9144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498080" y="4636008"/>
            <a:ext cx="384048" cy="38404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98080" y="4636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955280" y="454456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一键评测 + 部署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eval.py + python serve.py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 docker compose up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5 层 + 5 yaml: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Data/Train/RL/Eval/Deploy 各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 yaml 配置文件,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客户改配置即换数据/算力/模态权重,无需改代码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客户工作流 5 步: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clone → prepare_data → 改 yaml → train → eval/serve;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我方多承担: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配置默认值合理 / 文档完整 / dry-run 跑通 2 个 mock 客户场景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Encoder/Specialist 也是模块: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SigLIP / InternViT / Whisper / 自家 specialist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都通过 data.yaml 切换,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客户可换 encoder 不动训练代码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层架构 = 业界 OSS framework 通用模式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(参考 LLaMA-Factory / Axolotl / verl)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客户工作流目标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(我方多承担,客户工作 &lt; 5 步)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路径选型推理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工程主线选 Nemotron,Qwen3.5/LongCat 配方按 ROI 吸收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3931920"/>
        </p:xfrm>
        <a:graphic>
          <a:graphicData uri="http://schemas.openxmlformats.org/drawingml/2006/table">
            <a:tbl>
              <a:tblPr/>
              <a:tblGrid>
                <a:gridCol w="1783080"/>
                <a:gridCol w="2286000"/>
                <a:gridCol w="2286000"/>
                <a:gridCol w="233172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3 Nano Omni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LongCat-Next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Qwen3.5-Omni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我方判断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权重 / 代码开放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全开源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weights+code+data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全开源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weights+tokenizer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仅 API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无权重无代码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给工程骨架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其它两家给配方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匹配理解-only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完美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本就只做理解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 整路径不适用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5.3 pt 文本税换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图像生成(我方不要)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 Talker 不适用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Thinker 部分仍可借鉴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整体走,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其它两家拆方法借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encoder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Whisper / Parakeet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我方可用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Whisper + RVQ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RVQ 不需要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AuT 自研 40M 小时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我方无此规模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同档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Whisper 即可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框架技术栈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Megatron-Bridge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NeMo-RL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自研框架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未公开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内部框架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无外部代码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我方走 HF/FSDP/verl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三家代码全不直接复用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文本保真证据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MMLU-Pro 损 1.0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AIME25 损 7.0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 损 5.3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MMLU-Pro 损 5.9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MMLU-Pro 损 0.9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Redux 损 0.1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Qwen3.5 配方对文本最友好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OPD 是关键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配方公开度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公开充分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段 RL 全细节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Cluster Rebal 公开,RL 段未细化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公开充分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Specialist + OPD 细节充分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三家配方均可消融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见 Slide 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我方采纳决定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工程主线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7+5 阶段配方逻辑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 选择性吸收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Cluster-rebal / MoE 路由 / random delay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 选择性吸收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OPD / Specialist Distill / 数据配比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Nemotron-Lite + 多 trick 消融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全部在 HF/verl 上重做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846320"/>
            <a:ext cx="11430000" cy="749808"/>
          </a:xfrm>
          <a:prstGeom prst="rect">
            <a:avLst/>
          </a:prstGeom>
          <a:solidFill>
            <a:srgbClr val="FFF2CC"/>
          </a:solidFill>
          <a:ln w="9525">
            <a:solidFill>
              <a:srgbClr val="ED7D3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892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 决策同 v3 但叙事更紧: </a:t>
            </a:r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整路径选 Nemotron(代码骨架)。</a:t>
            </a:r>
            <a:pPr indent="0" marL="0">
              <a:buNone/>
            </a:pPr>
            <a:r>
              <a:rPr lang="en-US" sz="10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单方法层面三家可借鉴点见 Slide 4 消融矩阵。</a:t>
            </a:r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 </a:t>
            </a:r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Framework 设计选择:Nemotron 工程纪律 ⊕ 多 trick 选择性吸收 ⊕ HF 栈重做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整路径 vs 单方法: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整路径选 Nemotron(代码可借鉴);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单方法层面 Qwen3.5 / LongCat 各有可吸收点,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不能以「路径不选」一并丢弃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Framework 不绑死任何一家: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层架构允许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data.yaml 切换 specialist / rl.yaml 切换算法 / train.yaml 切换 stage,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客户可按需启用任一家配方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三家代码均不直接复用: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Megatron / NeMo-RL / 内部框架都不在我方栈,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全部在 HF transformers + FSDP2 + verl 上重做,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这是 framework 的核心工程任务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三篇 reference design 原报告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下页消融矩阵详细推导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(Slide 4)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关键方法消融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Qwen3.5/LongCat 配方按 ROI 选择性吸收,P1-P3 排序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4023360"/>
        </p:xfrm>
        <a:graphic>
          <a:graphicData uri="http://schemas.openxmlformats.org/drawingml/2006/table">
            <a:tbl>
              <a:tblPr/>
              <a:tblGrid>
                <a:gridCol w="2286000"/>
                <a:gridCol w="1508760"/>
                <a:gridCol w="1920240"/>
                <a:gridCol w="1463040"/>
                <a:gridCol w="1828800"/>
                <a:gridCol w="2423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我方决策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预期 ROI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评测验证点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OPD audio-text 配对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Qwen3.5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On-Policy Distill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主线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4 起 20% mix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+1-3 pt audio 任务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数据合成 ~5B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训练 1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VoiceBench / MMAU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audio-vs-text 一致性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Specialist Distillation Hybrid(2T)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Qwen3.5 + 自研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35B-A3B + Vision specialist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主线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A 末启动 Vision spec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中-高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+1-2 pt 视觉 + 文本保真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Vision spec 训 4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+ 35B teacher 接 1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MMMU + DocVQA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文本回归测试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Specialist Distillation 完整版(5T)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Qwen3.5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teacher → 1 student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 P2 消融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(代价高,多客户 ROI 摊薄)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高(关键)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+2-5 pt 综合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 5 specialist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蒸馏 4-6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MMMU/MathVista/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DocVQA/Audio 综合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Cluster-based Rebalancing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LongCat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mid-train 数据重平衡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 P2 消融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4 之前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防 audio 长尾欠拟合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 cluster 1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调度修改 1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各子任务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OpenASR / MMAU 平衡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Modality-Agnostic MoE 路由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LongCat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expert 不为模态特化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 P2 消融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vs 模态分离路由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10B-A2B 容量利用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 MoE 路由 1-2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重训 Stage 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DailyOmni / WorldSense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expert 利用率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Random delay audio-text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LongCat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[1, len(text)] 随机延迟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 P3 消融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训练健壮性 trick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低-中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时序鲁棒性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数据脚本改 1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长样本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 流式 / 截断鲁棒性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EVS + Conv3D 视频压缩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 压缩 ~70%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主线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4/5 视频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中-高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TTFT 5984→5313ms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已开源,集成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VideoMME + LongVB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推理 latency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16K→48K 渐进 + 跳 256K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节省 30% 算力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主线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5 用 48K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节省 4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MMLongBench-Doc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LongVideoBench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⊘ 明确不用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跨三家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AuT 自训(40M 小时无法)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ARIA/Talker(不做生成)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dNaViT RVQ / Hybrid Attn+GDN(架构层)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937760"/>
            <a:ext cx="3749040" cy="640080"/>
          </a:xfrm>
          <a:prstGeom prst="rect">
            <a:avLst/>
          </a:prstGeom>
          <a:solidFill>
            <a:srgbClr val="FBDDDC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983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主线吸收(已纳入): 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Hybrid 2T Specialist + OPD + EVS + 48K 渐进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206240" y="4937760"/>
            <a:ext cx="3840480" cy="640080"/>
          </a:xfrm>
          <a:prstGeom prst="rect">
            <a:avLst/>
          </a:prstGeom>
          <a:solidFill>
            <a:srgbClr val="FCE4D6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97680" y="4983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消融候选(T+12 前完成): 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5T Specialist + Cluster Rebal + Modality MoE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138160" y="4937760"/>
            <a:ext cx="3657600" cy="64008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0" y="4983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 增量消融(T+18 前如有空): 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Random delay + 中英多语配比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Hybrid 2T 主线: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 把 Hybrid Specialist Distillation(35B-A3B 通才 + 1 Vision specialist)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提升为主线,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完整 5T 降为 P2(多客户场景下 5T ROI 摊薄)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Framework 把消融做成开关: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默认开启;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P2/P3 通过 yaml 开关,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客户可按需启用对照实验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消融与主线并行: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在 Phase B SFT 期间分支验证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(同一份数据 + 同一份代码,只换 yaml),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不阻塞主线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Qwen3.5-Omni: Specialist Distillation + OPD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(arxiv 2604.15804)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LongCat-Next: Cluster Rebal + Modality-Agnostic MoE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(arxiv 2603.27538)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3 Nano Omni: EVS + 渐进上下文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(arxiv 2604.24954)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两阶段路线图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 → 双 demo 各 1 个,framework alpha → beta 渐进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114300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182880" cy="18288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-41148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T-12 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-41148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 启动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31720" y="1051560"/>
            <a:ext cx="182880" cy="18288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+ 评测 ready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60520" y="1051560"/>
            <a:ext cx="182880" cy="18288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A SFT 跑通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74920" y="1051560"/>
            <a:ext cx="182880" cy="1828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891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A α 版交付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760720" y="1051560"/>
            <a:ext cx="182880" cy="18288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= 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49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 ckpt 到达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560820" y="1051560"/>
            <a:ext cx="182880" cy="1828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50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750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Sanity + 切换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046720" y="1051560"/>
            <a:ext cx="182880" cy="1828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609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B SFT 完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761220" y="1051560"/>
            <a:ext cx="182880" cy="1828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754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T+14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0754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+ 消融完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1704320" y="1051560"/>
            <a:ext cx="182880" cy="18288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0185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T+18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185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β 版交付 + 上线评估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852160" y="777240"/>
            <a:ext cx="0" cy="868680"/>
          </a:xfrm>
          <a:prstGeom prst="line">
            <a:avLst/>
          </a:prstGeom>
          <a:noFill/>
          <a:ln w="25400">
            <a:solidFill>
              <a:srgbClr val="C00000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365760" y="1783080"/>
            <a:ext cx="1280160" cy="109728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178308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A 训练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(Qwen3.5-4B)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Framework α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737360" y="1783080"/>
            <a:ext cx="10058400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73936" y="1856232"/>
            <a:ext cx="173736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92224" y="1874520"/>
            <a:ext cx="1700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+ tokenizer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评测 harness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+ 5 yaml 模板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584448" y="1856232"/>
            <a:ext cx="153619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02736" y="1874520"/>
            <a:ext cx="14996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encoder + projector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HF/FSDP 代码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Vision specialist 启动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193792" y="1856232"/>
            <a:ext cx="133502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0" y="1874520"/>
            <a:ext cx="12984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A 全流水线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SFT+RL 跑通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α 版交付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2971800"/>
            <a:ext cx="1280160" cy="10972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297180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B 训练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(自家 10B-A2B)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737360" y="2971800"/>
            <a:ext cx="10058400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01968" y="3044952"/>
            <a:ext cx="630936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20256" y="3063240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Sanity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vLLM 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306056" y="3044952"/>
            <a:ext cx="12344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24344" y="3063240"/>
            <a:ext cx="1197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 ckpt 走 SFT 5 段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Hybrid 2T Specialist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OPD + EVS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5760" y="4160520"/>
            <a:ext cx="1280160" cy="109728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41605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Framework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β + 移交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(T+8 → T+18)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737360" y="4160520"/>
            <a:ext cx="10058400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613648" y="4233672"/>
            <a:ext cx="93268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31936" y="4251960"/>
            <a:ext cx="896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 3 段 RL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P2 消融分支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619488" y="4233672"/>
            <a:ext cx="42976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37776" y="4251960"/>
            <a:ext cx="393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MoE 路由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Rebal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0122408" y="4233672"/>
            <a:ext cx="630936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140696" y="4251960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 + 评测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文档完善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0826496" y="4233672"/>
            <a:ext cx="93268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844784" y="4251960"/>
            <a:ext cx="896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β 版交付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客户 onboarding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双 demo 双交付: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T-2 Demo A α 版可给客户先体验(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Qwen3.5-4B-omni 公开 ckpt 类),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T+18 Demo B β 版加自家骨干,客户拿到完整框架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Framework 是连续交付: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α(T-2 跑通)→ β(T+18 完整),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yaml + docs + tutorial 持续完善;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客户从 α 阶段就能开始读代码 / 试用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消融并行不阻塞主线: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已在主线;P2 在 Phase B 期间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yaml 切分支跑,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同一份数据 + 同一份代码,只换配置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Phase 切换协议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(T+0 → T+2 设 1 道 Sanity gate)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α/β 渐进交付模式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(业界常见 framework 交付节奏)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 交付物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周内训出 Demo A + framework α 版,五流并行有 owner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3749040" cy="36576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138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数据流水线 + data.yaml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Data team (2-3 人)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188720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Vision: LLaVA-OneVision-Data + Cambrian-7M + Cauldron 全量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435608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Audio: Granary v1.1 + AudioCaps + WavCaps + Common Voice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682496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Video: ShareGPT4Video + LLaVA-Video-178K(短中视频为主)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929384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 用 Qwen3.5-4B + 25 MM token + webdataset 分片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176272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data.yaml 模板:配置数据混合比例 + encoder 选型 + OPD 配对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356616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56032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 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T-8 前:数据池 + data.yaml 模板 + prepare_data.py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277977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无(完全独立)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06240" y="777240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777240"/>
            <a:ext cx="3749040" cy="36576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8138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 harness + eval.yaml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Eval team (1-2 人)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15968" y="1188720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VLMEvalKit fork + 内部分支(支持自建 base + custom model class)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15968" y="1435608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维 36 项整合(MMMU/DocVQA/VideoMME/OpenASR/SS-Pro/...)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15968" y="1682496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文本回归套件 + 每 1B token mini-eval 自动触发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15968" y="1929384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serving 接 eval pipeline,WandB 仪表盘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15968" y="2176272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eval.yaml 模板:客户可定制 eval 子集 + 自定义任务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0" y="2523744"/>
            <a:ext cx="356616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15968" y="256032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 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T-10 前:harness + eval.yaml + Qwen2.5-VL 基线对照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15968" y="277977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46720" y="777240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777240"/>
            <a:ext cx="3749040" cy="36576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0" y="8138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训练代码(HF/FSDP) + train.yaml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Eng team (2 人)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56448" y="1188720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HF transformers + FSDP2 训练 loop(避开 Megatron)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56448" y="1435608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MoE-aware FSDP wrap policy(为 Phase B 实 ckpt 准备)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56448" y="1682496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Encoder hot-swap + projector 模板 + 25 MM token resize 脚本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56448" y="1929384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 接入 + GSPO 自实现验证(GRPO 兜底)+ rl.yaml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56448" y="2176272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模型类 stub(为 Phase B 自家 MoE 架构预留)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38160" y="2523744"/>
            <a:ext cx="356616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56448" y="256032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 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T-6 前:train.yaml + rl.yaml + Demo A Stage 0 训出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156448" y="277977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 决策(⑤)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154680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154680"/>
            <a:ext cx="3749040" cy="36576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19125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Encoder + Hybrid 2T Specialist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Research (1-2 人)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75488" y="3566160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Vision: SigLIP-SO400M vs InternViT-300M 对照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5488" y="3813048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Audio: Whisper-large-v3 + MLP projector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5488" y="4059936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Video: 复用 Vision encoder + Conv3D + EVS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5488" y="4306824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T-2 前完成 Demo A Stage 0/1(Qwen3.5-4B 上)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5488" y="4553712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T-2 起启动 Hybrid 2T Specialist(35B-A3B 接入 + Vision specialist 自训)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901184"/>
            <a:ext cx="356616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" y="49377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 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T-2 前:Demo A α 版(MMMU ≥ 50)+ 2T Specialist 启动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5488" y="515721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②(评测)+ ③(代码)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206240" y="3154680"/>
            <a:ext cx="7589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06240" y="3154680"/>
            <a:ext cx="7589520" cy="365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97680" y="3191256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 决策 + 文档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Cross-team (1 人) + Doc owner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315968" y="3566160"/>
            <a:ext cx="7370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 Qwen3.5-4B-base tokenizer(~151,936 vocab)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315968" y="3813048"/>
            <a:ext cx="7370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 ~25 MM special token + mean-init 脚本(详见 Slide 7)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315968" y="4059936"/>
            <a:ext cx="7370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对齐预训练 team:实 ckpt 是否同 tokenizer 家族(T-10 SLA)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315968" y="4306824"/>
            <a:ext cx="7370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若不同:retokenize 应急脚本预备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315968" y="4553712"/>
            <a:ext cx="7370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文档:README + Quickstart + Tutorial(客户 onboarding 用)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297680" y="4901184"/>
            <a:ext cx="740664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15968" y="4937760"/>
            <a:ext cx="7370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 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T-12 前:tokenizer 规范 + Quickstart + 5 yaml 模板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315968" y="5157216"/>
            <a:ext cx="7370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强依赖预训练 team(每 2 周对齐)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T 时刻有完整 framework α: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流并行交付:5 个 yaml 模板 + Demo A 模型 + 完整文档,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T-2 起即可读代码试用</a:t>
            </a:r>
            <a:pPr indent="0" marL="0">
              <a:buNone/>
            </a:pPr>
            <a:pPr indent="0" marL="0">
              <a:buNone/>
            </a:pP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文档是 first-class deliverable: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Slide 6 ⑤ 中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 owner 必须独立配 1 人,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框架交付不附文档 = 客户跑不起来 = 项目失败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Hybrid 2T Specialist 主线启动: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T-2 起 Vision specialist 在 Qwen3.5-4B 上训出,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 ckpt 来后 Specialist 直接复用,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节省 4 周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Qwen3.5-4B-base + SigLIP-SO400M / Whisper-v3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(HF model hub)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 + vLLM 集成模式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(GitHub 文档)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yaml 模板设计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(内部 framework 规范)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 操作流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Qwen3.5-4B 词表 + 25 MM token,resize 脚本 + 切换协议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 Tokenizer = </a:t>
            </a:r>
            <a:pPr indent="0" marL="0">
              <a:buNone/>
            </a:pPr>
            <a:r>
              <a:rPr lang="en-US" sz="12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Qwen3.5-4B-base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(151,936 BPE,中英多语,ChatML 已含 &lt;|im_start|&gt;/&lt;|im_end|&gt;)</a:t>
            </a:r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⊕  </a:t>
            </a:r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+25 MM special tokens </a:t>
            </a:r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(其中 ~10 是 Qwen3.5 原生缺失,需新增 ~15-18,可调 ±5)</a:t>
            </a:r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⇒  </a:t>
            </a:r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~151,955 </a:t>
            </a:r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tokens(可调到 256 倍数对齐 GPU)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57607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83080"/>
            <a:ext cx="5760720" cy="36576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 5 步操作流(Phase A 第 1 周完成)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240280"/>
            <a:ext cx="5541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 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tokenizer.add_special_tokens({'additional_special_tokens': [...]}) 添加 25 个新 token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去重:跳过 Qwen3.5 已有的(&lt;|im_start|&gt;/&lt;|im_end|&gt;/&lt;|tool_call|&gt; 等)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实际新增 ~15-18:vision/audio/video placeholder + grounding/bbox/ocr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" y="2834640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871216"/>
            <a:ext cx="5541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 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model.resize_token_embeddings(len(tokenizer), pad_to_multiple_of=256) 扩 embedding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embedding + LM head 同步扩(weight tied 时一次扩);pad to 256 倍数避免 GPU 性能掉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3465576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502152"/>
            <a:ext cx="5541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 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 token embedding 用「近义文本 token mean」初始化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&lt;|vision_start|&gt; 用 image/img/picture 平均;&lt;|audio_start|&gt; 用 audio/sound 平均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fallback:小方差随机 σ=0.02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" y="4096512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4133088"/>
            <a:ext cx="5541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4 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0 训练时,LLM 全冻 + 仅解冻 [Vision-Proj, 25 个新 token 的 embedding 行]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其它 151,936 个 token 的 embedding 行保持冻结,防止已学语义漂移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4727448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764024"/>
            <a:ext cx="5541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5 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数据预处理时把 image/audio/video 占位插入文本流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&lt;|vision_start|&gt; + N 个 &lt;|image_pad|&gt; + &lt;|vision_end|&gt;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音频/视频同结构,N 由 encoder 输出 token 数决定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1783080"/>
            <a:ext cx="55321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783080"/>
            <a:ext cx="5532120" cy="365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82880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Phase B 实 ckpt 到达 — Tokenizer 切换协议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2240280"/>
            <a:ext cx="5349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1: 实 ckpt 用 Qwen3.5 同一 tokenizer ★最理想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2459736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 完全复用,把 Step 1-3 在新 ckpt 上重做(分钟级);数据无需 retokenize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55080" y="2788920"/>
            <a:ext cx="5349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成本: </a:t>
            </a:r>
            <a:pPr indent="0" marL="0">
              <a:buNone/>
            </a:pPr>
            <a:r>
              <a:rPr lang="en-US" sz="95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周(零返工)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55080" y="2971800"/>
            <a:ext cx="534924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017520"/>
            <a:ext cx="5349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2: 同家族,词表略有差异(±5%)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3236976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 vocab.json,补缺漏 + retokenize 受影响样本(&lt;10%)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3566160"/>
            <a:ext cx="5349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成本: </a:t>
            </a:r>
            <a:pPr indent="0" marL="0">
              <a:buNone/>
            </a:pPr>
            <a:r>
              <a:rPr lang="en-US" sz="95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55080" y="3749040"/>
            <a:ext cx="534924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3794760"/>
            <a:ext cx="5349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3: 完全不同 tokenizer ★最坏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4014216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 retokenize 170B token 数据池;评测脚本/RL prompt template 全部重做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55080" y="4343400"/>
            <a:ext cx="5349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成本: </a:t>
            </a:r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3-4 周(严重)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55080" y="4526280"/>
            <a:ext cx="534924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4572000"/>
            <a:ext cx="5349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对预训练 team 的 SLA 请求(T-10 前必须确认)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55080" y="4791456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 ckpt 词表与 Qwen3.5 兼容性;不兼容需提前 4 周通告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55080" y="5120640"/>
            <a:ext cx="5349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成本: </a:t>
            </a:r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需立 alert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5 步是机械操作: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1-5 全部是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transformers / HF API 直接调用,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第 1 周内完成,无 R&amp;D 风险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客户也走同样 5 步: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Framework 把 5 步打包成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prepare_data.py 一个脚本,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客户加自己的 special token 也是改 yaml + 跑脚本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Case 3 是 R2 风险: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若实 ckpt 用全新 tokenizer,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B 整体延 4 周,T-10 必须签 SLA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retokenize 4 周 + RL prompt 重做,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 / Qwen3-VL tokenizer 设计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(HF tokenizer.json)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Qwen2-VL / Qwen3-Omni MM token 列表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(开源代码参考)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HF transformers resize_token_embeddings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(官方 API)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SFT 配方 (10B-A2B)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段 ~170B token,active params + stage 跳过双重缩放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缩放: </a:t>
            </a:r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30B-A3B = 466.9B  </a:t>
            </a:r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10B-A2B 按 active params 缩(2/3 ≈ 67%)= 312B  </a:t>
            </a:r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 Stage 6(-34B)+ 扣 GUI/coding/math 不相关数据(~70B)</a:t>
            </a:r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≈  </a:t>
            </a:r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~170B </a:t>
            </a:r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(Nemotron 36%)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11430000" cy="3017520"/>
        </p:xfrm>
        <a:graphic>
          <a:graphicData uri="http://schemas.openxmlformats.org/drawingml/2006/table">
            <a:tbl>
              <a:tblPr/>
              <a:tblGrid>
                <a:gridCol w="1280160"/>
                <a:gridCol w="822960"/>
                <a:gridCol w="1371600"/>
                <a:gridCol w="1508760"/>
                <a:gridCol w="1280160"/>
                <a:gridCol w="2331720"/>
                <a:gridCol w="1005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Context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原值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 token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缩放系数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FSDP / 算力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Vision Proj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15.5B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fixed step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H100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FSDP, BS=128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Vision SFT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主战场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~95B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去 GUI/math/code 子集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明显压缩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16-32 H100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FSDP, mixed precision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2/3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Enc+Proj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11.4 + 100.5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=112B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S2:5B + S3:20B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任务相对简单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8-16 H100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FSDP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Omni SFT 16K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57.3B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~30B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OPD 配对样本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16-32 H100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FSDP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2-3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Omni SFT 48K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扩 3×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video + 长文档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广告 60s 视频必要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16-32 H100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FSDP + ctx parallel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⊘ Stage 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256K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跳过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省 4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466.9B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全栈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~170B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OPD ~5B = 170B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符合预期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16-32 H100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9-10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B SFT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983480"/>
            <a:ext cx="11430000" cy="502920"/>
          </a:xfrm>
          <a:prstGeom prst="rect">
            <a:avLst/>
          </a:prstGeom>
          <a:solidFill>
            <a:srgbClr val="FFF2CC"/>
          </a:solidFill>
          <a:ln w="9525">
            <a:solidFill>
              <a:srgbClr val="ED7D3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~170B(比 v3 200B 又少):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(1)v3 还想做 GUI agent / 数学推理,v4 框架场景下这部分数据 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客户自己加更高效  </a:t>
            </a:r>
            <a:pPr indent="0" marL="0">
              <a:buNone/>
            </a:pPr>
            <a:r>
              <a:rPr lang="en-US" sz="10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(2)Hybrid 2T Specialist 已主线,数据效率 ↑ ~10% 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(3)Stage 1 缩 14% / Stage 2/3 缩 17%,通用底已够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缩放有据可依: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170B = 466.9B × 0.36,与 active params 比例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Stage 跳过 × 数据集裁剪 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三重折损一致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Phase A 80B 试水: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A 用 Qwen3.5-4B 做 proxy 时跑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~80B token 即可饱和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,更小模型 + 更窄数据,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B 实 ckpt 跑 170B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Stage 5 48K 不能跳: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广告 60s 视频实测 30-50K token,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5 是必须主线;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跳了客户拿不到长视频能力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7 阶段原始 token 量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(arxiv 2604.24954)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Chinchilla scaling law + active params 经验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(内部估算)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 FSDP2 / accelerate 文档</a:t>
            </a:r>
            <a:pPr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数据规模 + 来源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170B token,100% 公开数据,vision 56% / audio 15% / video 9% / text 20%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4663440"/>
        </p:xfrm>
        <a:graphic>
          <a:graphicData uri="http://schemas.openxmlformats.org/drawingml/2006/table">
            <a:tbl>
              <a:tblPr/>
              <a:tblGrid>
                <a:gridCol w="1371600"/>
                <a:gridCol w="2834640"/>
                <a:gridCol w="1417320"/>
                <a:gridCol w="1417320"/>
                <a:gridCol w="1783080"/>
                <a:gridCol w="2606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模态 / 阶段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主用数据集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规模(样本)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 token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Owner / 风险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Vision Pretrain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(Stage 0)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LLaVA-Pretrain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ShareGPT4V + DenseFusion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图文对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短文 caption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全开源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T-12 起下载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 team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无风险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Vision SFT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(Stage 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LLaVA-OneVision-Data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Cambrian-7M(去 GUI 子集)+ Cauldron + ALLaVA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~22M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复合指令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~95B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1 主战场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全开源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自建 CoT 数据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 + Research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CoT 自合成 ~5B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Pretrain + SFT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(Stage 2/3)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Granary v1.1 ASR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AudioCaps + WavCaps + CV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~20M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音频任务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ASR + AQA + 简单分类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公开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Granary HF 直接拉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 team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AudioSet 仅 label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Omni 混合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(Stage 4)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V+A+T 混采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ShareGPT4Video + 安全数据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~5M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~30B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5:3:2 + OPD 配对 + Cluster Rebal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 自建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比例需调优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Research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OPD 配对 + Rebal pipeline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中长视频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(Stage 5)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LLaVA-Video-178K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EgoSchema + LongVideoBench 分布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中长视频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含视频推理 CoT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 部分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需采样长尾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 + Research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长视频标注稀缺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Text 保留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(全程混采)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自家文本 SFT 同分布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(由预训练 team 提供)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按比例混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防漂移采样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待对齐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 cross-team SLA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Cross-team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T-12 立项,40% 风险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偏好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RLHF-V + VLFeedback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POVID(GUI 偏好不再自标)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~120K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偏好对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短样本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公开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GUI 客户自己标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Eval team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标注成本下降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~52M+120K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~208B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(SFT 170B + RL 3B + Text 35B)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85% ready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15% 需自建/谈判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团队 + 跨团队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100% 公开数据: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 不需要客户业务数据,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完全公开 + 自建 OPD 配对 + Cluster Rebal,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数据 100% 可分享给客户(MIT/Apache 兼容)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GUI 偏好不自标: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 自标 30K GUI 偏好为广告场景准备;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 客户自己有 UI 测试需求时自己标,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我方提供标注 pipeline 模板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Text 同分布仍是 R3: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防漂移的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必须由预训练 team 提供同分布,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~35B Text 数据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T-12 必须签 SLA;否则退化到公开 Nemotron-text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LLaVA-OneVision / Cambrian / Granary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(HuggingFace)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OPD 配对方案 (Qwen3.5-Omni)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Cluster Rebal (LongCat)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公开偏好数据集 RLHF-V / VLFeedback / POVID</a:t>
            </a:r>
            <a:pPr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栈 verl/FSDP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段 GSPO,verl rollout 用 vLLM,GRPO 兜底,跳 Audio/Omni-RL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2926080" cy="461772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段 RL(verl 实现)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8813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跳过:Text-RL S1 / Omni-RL / Audio-RL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457200" cy="4572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4173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MPO 偏好优化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DPO + BCO 混合(verl 内置 DPO + 自加 BCO)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~120K 偏好对(RLHF-V + VLFeedback + POVID)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周 / 16 H100,FSDP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0" cy="9144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017520"/>
            <a:ext cx="457200" cy="4572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7889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Image-RL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GSPO(verl + 我方贡献)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~50K 视觉推理,客户场景可加自家 GUI 偏好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verifier: string/math/format(GUI 客户自加)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周 / B200 + vLLM rollout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0" cy="9144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4389120"/>
            <a:ext cx="457200" cy="45720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41605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Text-RL Stage 2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修文本回归(必跑)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 token embedding 防漂移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~30K 自家文本任务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周 / 16 H100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0" y="777240"/>
            <a:ext cx="310896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0" y="777240"/>
            <a:ext cx="3108960" cy="38404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8229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 verl + FSDP + vLLM 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66160" y="128016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6160" y="1280160"/>
            <a:ext cx="91440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21608" y="132588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 Trainer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GRPO / GSPO / DPO 算法层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66160" y="182880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1828800"/>
            <a:ext cx="91440" cy="5029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21608" y="187452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FSDP2 Worker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策略模型 + 参考模型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66160" y="237744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66160" y="2377440"/>
            <a:ext cx="91440" cy="5029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21608" y="242316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Ray Cluster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rollout / actor / critic 编排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66160" y="292608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6160" y="2926080"/>
            <a:ext cx="91440" cy="5029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21608" y="297180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Rollout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 generate(PagedAttn)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566160" y="347472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66160" y="3474720"/>
            <a:ext cx="91440" cy="50292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21608" y="352044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Reward Verifiers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string/math/GUI/format 可插拔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566160" y="402336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66160" y="4023360"/>
            <a:ext cx="914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21608" y="406908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rl.yaml 配置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客户改 yaml 切算法 / 数据 / verifier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675120" y="777240"/>
            <a:ext cx="512064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0" y="777240"/>
            <a:ext cx="5120640" cy="38404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0" y="8229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GSPO 实现状态 + 跳过段理由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84848" y="1280160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GSPO 实现状态 </a:t>
            </a:r>
            <a:pPr indent="0" marL="0">
              <a:buNone/>
            </a:pPr>
            <a:r>
              <a:rPr lang="en-US" sz="95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 主干含 GRPO,GSPO 需自实现(~300 行)或等社区 PR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84848" y="1719072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84848" y="1755648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兜底方案 </a:t>
            </a:r>
            <a:pPr indent="0" marL="0">
              <a:buNone/>
            </a:pPr>
            <a:r>
              <a:rPr lang="en-US" sz="95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GRPO 在 omni 已被验证,损失约 1-2 pt 稳定性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784848" y="2194560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84848" y="2231136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Global BS / rollouts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4096 / 16 rollouts(vLLM 并行 = 16-32 副本)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784848" y="2670048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84848" y="2706624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⊘ Text-RL S1 跳过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用于多环境 RLVR,我方场景无需多环境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784848" y="3145536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84848" y="3182112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⊘ Omni-RL 跳过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Image-RL + audio benchmark 已可覆盖 DailyOmni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 T+14 不达标可后补 2-3 周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784848" y="3621024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84848" y="3657600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⊘ Audio-RL 跳过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ASR/分类 SFT 已逼近上限,RL 边际收益低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784848" y="4096512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84848" y="4133088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Text-RL S2 必跑 </a:t>
            </a:r>
            <a:pPr indent="0" marL="0">
              <a:buNone/>
            </a:pPr>
            <a:r>
              <a:rPr lang="en-US" sz="95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4/5 后必有 1-2 pt 漂移,这是修复段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784848" y="4572000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84848" y="4608576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Verifier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 verl 内置 + 客户可加自定义(rl.yaml)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verl + FSDP 替 NeMo-RL: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 是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OSS 第一梯队 RL 框架,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原生 FSDP+vLLM,与我方栈对齐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GSPO 自实现风险可控: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GRPO → GSPO 主要差别在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sequence-level 重要性比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,~300 行,2 人 1 周;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若延迟用 GRPO 兜底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Verifier 可插拔: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pipeline 留 verifier 接口,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客户可加自定义 reward(违规分类 / GUI 准确率 / 等),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不动核心代码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verl(volcengine/verl)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GitHub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GSPO 算法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(Qwen 团队 2025 公开)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5 段 RL pipeline + GSPO 超参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(arxiv 2604.24954)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评测红线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对标同 size 开源(Qwen2.5-VL-4B),无具体数字约定,仍设 3 阶段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4617720"/>
        </p:xfrm>
        <a:graphic>
          <a:graphicData uri="http://schemas.openxmlformats.org/drawingml/2006/table">
            <a:tbl>
              <a:tblPr/>
              <a:tblGrid>
                <a:gridCol w="1508760"/>
                <a:gridCol w="2331720"/>
                <a:gridCol w="1691640"/>
                <a:gridCol w="1691640"/>
                <a:gridCol w="1874520"/>
                <a:gridCol w="2331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评测维度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 benchmark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A (Demo A)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对照基准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B (Demo B)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对照基准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能力证明门槛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红线 / Go-No-Go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文本回归 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MMLU-Pro / IFBench / AIME25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LiveCodeBench v6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99%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vs Qwen3.5-4B-base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99%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vs 实 ckpt base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98%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等价 ≤2 pt 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掉 &gt;2 pt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立即 rollback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视觉理解综合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MMMU / MM-Vet / MMStar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SEED-Bench-2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Qwen2.5-VL-4B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(MMMU ~50)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同 size 开源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(对标 4B/7B)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打平 baseline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(±2 pt)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 &gt; 5 pt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中点不通过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OCR / 文档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OCRBench-V2 / DocVQA / ChartQA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CharXiv RQ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DocVQA ≈ baseline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(~85)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DocVQA ≈ 90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对标 Qwen2.5-VL-7B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打平 baseline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 &gt; 5 pt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上线不达标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/ GUI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ScreenSpot-Pro / OSWorld-G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(留给 UI 客户用)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SS-Pro ≥ 25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A 验证 RL 流程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SS-Pro ≥ 35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能跑通(框架证明)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客户用自家数据继续训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跑不通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pipeline 失败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音频理解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OpenASR / MMAU / MMAR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VoiceBench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ASR WER ≈ 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WER ≈ 7 / MMAU ≈ 65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打平 baseline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WER &gt; 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SFT 不达标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视频理解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VideoMME / LongVideoBench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MVBench / NextQA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VideoMME ≈ 55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短视频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VideoMME ≈ 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打平同 size 开源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 &gt; 5 pt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5 不达标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Omni 端到端 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DailyOmni / WorldSense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AVUT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DailyOmni ≈ 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A 含 omni 数据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DailyOmni ≈ 65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打平同 size 开源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 &gt; 8 pt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整体不达 SOTA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幻觉(必跑)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POPE / HallusionBench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MMHal-Bench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POPE ≥ 88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POPE ≥ 90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POPE ≥ 90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幻觉是审核客户核心关切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POPE &lt; 85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上线不达标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对标同 size 开源,无数字约定: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我方与客户没有约定具体 benchmark 数字,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「打平同 size 开源」是能力证明标准 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(MMMU 60+ / DocVQA 90+ / VideoMME 60+ 是 4B 档参考)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幻觉显式加: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POPE / HallusionBench 显式加为必跑 ★,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广告/医疗/UI 客户对幻觉零容忍,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上线门槛 POPE ≥ 90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客户可定制 eval.yaml: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Framework 允许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客户在 eval.yaml 加自定义 task,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公开 benchmark 是能力证明,自家 task 是业务验证(客户的事)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三篇报告评测整合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(Nemotron / LongCat / Qwen3.5)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Qwen2.5-VL-4B / 7B 公开 benchmark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(HF model card)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POPE / HallusionBench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(开源 hallucination benchmark)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+ 交付清单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大风险 + 8 项交付物 + 客户 onboarding 流程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2606040"/>
        </p:xfrm>
        <a:graphic>
          <a:graphicData uri="http://schemas.openxmlformats.org/drawingml/2006/table">
            <a:tbl>
              <a:tblPr/>
              <a:tblGrid>
                <a:gridCol w="2834640"/>
                <a:gridCol w="1188720"/>
                <a:gridCol w="1371600"/>
                <a:gridCol w="2194560"/>
                <a:gridCol w="38404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早期信号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Mitigation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R1: 实 ckpt vLLM 模型类未就绪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+1-3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T-4 未提供 stub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A 第 8 周起预留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vLLM 模型类接口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R2: Tokenizer Case 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低-中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+3-4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T-10 SLA 未签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retokenize 应急脚本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数据双备份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R3: 预训练 team 不给 text 同分布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文本必漂移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T-8 仍未到位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退化到公开 Nemotron-text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数据,损 ~3 pt 接受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R4-NEW: Framework 可移交性不达标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高(项目失败)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客户跑不起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 dry-run 不通过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个 mock 客户场景内测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文档完备性 review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R5: B200 集群档期冲突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推迟 2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T+10 资源未锁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退化到 H100 跑 RL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BS 减半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520440"/>
            <a:ext cx="68580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3520440"/>
            <a:ext cx="6858000" cy="36576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56616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☑ 8 项交付物清单(T+18 框架 β 版)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931920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代码包(Apache/MIT 内部 license),HF transformers + FSDP2 + verl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840480" y="3931920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yaml 配置模板:data / train / rl / eval / deploy 各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343400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demo ckpt:Qwen3.5-4B-omni + 自家 10B-A2B-omni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40480" y="4343400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 报告(自动生成的 markdown,8 维 36 项 + 训练曲线)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4754880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完整文档:README + Architecture + Quickstart + Tutorial + API ref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840480" y="4754880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Jupyter notebook(端到端 SFT+RL+eval 演示)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5166360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服务化模板:vLLM serve + REST API + Dockerfile + K8s yaml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840480" y="5166360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onboarding 培训(2 小时技术分享 + 1 周 office hours)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406640" y="3520440"/>
            <a:ext cx="4389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06640" y="3520440"/>
            <a:ext cx="4389120" cy="36576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0" y="35661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☞ 客户 onboarding 5 步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498080" y="3968496"/>
            <a:ext cx="274320" cy="27432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0" y="39684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818120" y="39684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T+18 交付:代码 + 文档 + 双 demo + 培训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498080" y="4297680"/>
            <a:ext cx="274320" cy="27432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98080" y="4297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818120" y="4297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W1:阅读 docs + 跑 demo notebook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498080" y="4626864"/>
            <a:ext cx="274320" cy="27432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0" y="46268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818120" y="46268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W2:准备数据 + 改 yaml 跑 sanity SFT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498080" y="4956048"/>
            <a:ext cx="274320" cy="27432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498080" y="4956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818120" y="49560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W3-W6:用自家数据全量 SFT + RL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498080" y="5285232"/>
            <a:ext cx="274320" cy="27432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498080" y="5285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818120" y="52852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T+24 起 office hours:每周 2h 答疑 + bug fix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R4 是新增最大风险: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Framework 移交不达标 = 项目失败,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T+12 起内部 dry-run 2 个 mock 客户场景,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检验文档 + yaml + tutorial 是否真能让陌生人跑起来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8 项交付物 ≠ 8 个 git commit: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 + 文档 + demo + 服务模板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都是 first-class deliverable,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缺一项就视为框架未完成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客户工作 &lt; 5 步: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Onboarding 设计目标: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客户工程师 1 周内能跑通 demo,2 周内能改自家数据训出第一个版本,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这是「我方多承担」的硬指标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A→B 切换 SOP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(内部协议)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 + vLLM 集成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(开源文档)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Framework 交付 best practice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(LLaMA-Factory / Axolotl 参考)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 后训练框架计划 v4 — Framework + 双 Demo</dc:title>
  <dc:subject>PptxGenJS Presentation</dc:subject>
  <dc:creator>Post-Training Team</dc:creator>
  <cp:lastModifiedBy>Post-Training Team</cp:lastModifiedBy>
  <cp:revision>1</cp:revision>
  <dcterms:created xsi:type="dcterms:W3CDTF">2026-05-06T04:22:59Z</dcterms:created>
  <dcterms:modified xsi:type="dcterms:W3CDTF">2026-05-06T04:22:59Z</dcterms:modified>
</cp:coreProperties>
</file>