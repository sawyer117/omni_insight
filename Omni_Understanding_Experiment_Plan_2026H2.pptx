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11430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任务定义 + 约束</a:t>
            </a:r>
            <a:pPr indent="0" marL="0">
              <a:buNone/>
            </a:pPr>
            <a:r>
              <a:rPr lang="en-US" sz="2400" b="1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: </a:t>
            </a:r>
            <a:pPr indent="0" marL="0">
              <a:buNone/>
            </a:pPr>
            <a:r>
              <a:rPr lang="en-US" sz="2200" b="1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ckpt 到达即启动 omni 理解后训练,4 模态理解,无生成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365760" y="658368"/>
            <a:ext cx="11430000" cy="0"/>
          </a:xfrm>
          <a:prstGeom prst="line">
            <a:avLst/>
          </a:prstGeom>
          <a:noFill/>
          <a:ln w="19050">
            <a:solidFill>
              <a:srgbClr val="C000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777240"/>
            <a:ext cx="5760720" cy="4617720"/>
          </a:xfrm>
          <a:prstGeom prst="rect">
            <a:avLst/>
          </a:prstGeom>
          <a:solidFill>
            <a:srgbClr val="FFFFFF"/>
          </a:solidFill>
          <a:ln w="12700">
            <a:solidFill>
              <a:srgbClr val="70AD4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777240"/>
            <a:ext cx="5760720" cy="384048"/>
          </a:xfrm>
          <a:prstGeom prst="rect">
            <a:avLst/>
          </a:prstGeom>
          <a:solidFill>
            <a:srgbClr val="70AD47"/>
          </a:solidFill>
          <a:ln w="12700">
            <a:solidFill>
              <a:srgbClr val="70AD4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822960"/>
            <a:ext cx="5577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In-Scope:理解能力扩展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75488" y="1280160"/>
            <a:ext cx="5541264" cy="6339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0AD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Vision 理解 </a:t>
            </a:r>
            <a:pPr indent="0" marL="0">
              <a:buNone/>
            </a:pPr>
            <a:r>
              <a:rPr lang="en-US" sz="1000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图像 / 文档 / 图表 / OCR / GUI</a:t>
            </a:r>
            <a:endParaRPr lang="en-US" sz="1100" dirty="0"/>
          </a:p>
          <a:p>
            <a:pPr indent="0" marL="0">
              <a:buNone/>
            </a:pPr>
            <a:r>
              <a:rPr lang="en-US" sz="900" b="1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红线: </a:t>
            </a:r>
            <a:pPr indent="0" marL="0">
              <a:buNone/>
            </a:pPr>
            <a:r>
              <a:rPr lang="en-US" sz="900" b="1" i="1" dirty="0">
                <a:solidFill>
                  <a:srgbClr val="ED7D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MMMU ≥ 65, OCRBench ≥ 85, ScreenSpot-Pro ≥ 50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75488" y="1914144"/>
            <a:ext cx="5541264" cy="0"/>
          </a:xfrm>
          <a:prstGeom prst="line">
            <a:avLst/>
          </a:prstGeom>
          <a:noFill/>
          <a:ln w="3175">
            <a:solidFill>
              <a:srgbClr val="BFBFB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5488" y="1950720"/>
            <a:ext cx="5541264" cy="6339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0AD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Audio 理解 </a:t>
            </a:r>
            <a:pPr indent="0" marL="0">
              <a:buNone/>
            </a:pPr>
            <a:r>
              <a:rPr lang="en-US" sz="1000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ASR / 音频问答 / 音乐 / 声音事件</a:t>
            </a:r>
            <a:endParaRPr lang="en-US" sz="1100" dirty="0"/>
          </a:p>
          <a:p>
            <a:pPr indent="0" marL="0">
              <a:buNone/>
            </a:pPr>
            <a:r>
              <a:rPr lang="en-US" sz="900" b="1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红线: </a:t>
            </a:r>
            <a:pPr indent="0" marL="0">
              <a:buNone/>
            </a:pPr>
            <a:r>
              <a:rPr lang="en-US" sz="900" b="1" i="1" dirty="0">
                <a:solidFill>
                  <a:srgbClr val="ED7D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OpenASR avg WER ≤ 7, MMAU ≥ 70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75488" y="2584704"/>
            <a:ext cx="5541264" cy="0"/>
          </a:xfrm>
          <a:prstGeom prst="line">
            <a:avLst/>
          </a:prstGeom>
          <a:noFill/>
          <a:ln w="3175">
            <a:solidFill>
              <a:srgbClr val="BFBFB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5488" y="2621280"/>
            <a:ext cx="5541264" cy="6339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0AD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Video 理解 </a:t>
            </a:r>
            <a:pPr indent="0" marL="0">
              <a:buNone/>
            </a:pPr>
            <a:r>
              <a:rPr lang="en-US" sz="1000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短/中/长视频 + 时序推理</a:t>
            </a:r>
            <a:endParaRPr lang="en-US" sz="1100" dirty="0"/>
          </a:p>
          <a:p>
            <a:pPr indent="0" marL="0">
              <a:buNone/>
            </a:pPr>
            <a:r>
              <a:rPr lang="en-US" sz="900" b="1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红线: </a:t>
            </a:r>
            <a:pPr indent="0" marL="0">
              <a:buNone/>
            </a:pPr>
            <a:r>
              <a:rPr lang="en-US" sz="900" b="1" i="1" dirty="0">
                <a:solidFill>
                  <a:srgbClr val="ED7D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VideoMME ≥ 65, LongVideoBench ≥ 60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75488" y="3255264"/>
            <a:ext cx="5541264" cy="0"/>
          </a:xfrm>
          <a:prstGeom prst="line">
            <a:avLst/>
          </a:prstGeom>
          <a:noFill/>
          <a:ln w="3175">
            <a:solidFill>
              <a:srgbClr val="BFBFB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5488" y="3291840"/>
            <a:ext cx="5541264" cy="6339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0AD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Text 保真 </a:t>
            </a:r>
            <a:pPr indent="0" marL="0">
              <a:buNone/>
            </a:pPr>
            <a:r>
              <a:rPr lang="en-US" sz="1000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文本能力不漂移(关键约束)</a:t>
            </a:r>
            <a:endParaRPr lang="en-US" sz="1100" dirty="0"/>
          </a:p>
          <a:p>
            <a:pPr indent="0" marL="0">
              <a:buNone/>
            </a:pPr>
            <a:r>
              <a:rPr lang="en-US" sz="900" b="1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红线: </a:t>
            </a:r>
            <a:pPr indent="0" marL="0">
              <a:buNone/>
            </a:pPr>
            <a:r>
              <a:rPr lang="en-US" sz="900" b="1" i="1" dirty="0">
                <a:solidFill>
                  <a:srgbClr val="ED7D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MMLU-Pro 损 ≤ 2 pt vs base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75488" y="3925824"/>
            <a:ext cx="5541264" cy="0"/>
          </a:xfrm>
          <a:prstGeom prst="line">
            <a:avLst/>
          </a:prstGeom>
          <a:noFill/>
          <a:ln w="3175">
            <a:solidFill>
              <a:srgbClr val="BFBFB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5488" y="3962400"/>
            <a:ext cx="5541264" cy="6339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0AD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Omni 端到端 </a:t>
            </a:r>
            <a:pPr indent="0" marL="0">
              <a:buNone/>
            </a:pPr>
            <a:r>
              <a:rPr lang="en-US" sz="1000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音视频联合理解</a:t>
            </a:r>
            <a:endParaRPr lang="en-US" sz="1100" dirty="0"/>
          </a:p>
          <a:p>
            <a:pPr indent="0" marL="0">
              <a:buNone/>
            </a:pPr>
            <a:r>
              <a:rPr lang="en-US" sz="900" b="1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红线: </a:t>
            </a:r>
            <a:pPr indent="0" marL="0">
              <a:buNone/>
            </a:pPr>
            <a:r>
              <a:rPr lang="en-US" sz="900" b="1" i="1" dirty="0">
                <a:solidFill>
                  <a:srgbClr val="ED7D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DailyOmni ≥ 70, WorldSense ≥ 50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75488" y="4596384"/>
            <a:ext cx="5541264" cy="0"/>
          </a:xfrm>
          <a:prstGeom prst="line">
            <a:avLst/>
          </a:prstGeom>
          <a:noFill/>
          <a:ln w="3175">
            <a:solidFill>
              <a:srgbClr val="BFBFB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5488" y="4632960"/>
            <a:ext cx="5541264" cy="6339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0AD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上下文长度 </a:t>
            </a:r>
            <a:pPr indent="0" marL="0">
              <a:buNone/>
            </a:pPr>
            <a:r>
              <a:rPr lang="en-US" sz="1000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16K → 48K 起步,256K 视需要</a:t>
            </a:r>
            <a:endParaRPr lang="en-US" sz="1100" dirty="0"/>
          </a:p>
          <a:p>
            <a:pPr indent="0" marL="0">
              <a:buNone/>
            </a:pPr>
            <a:r>
              <a:rPr lang="en-US" sz="900" b="1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红线: </a:t>
            </a:r>
            <a:pPr indent="0" marL="0">
              <a:buNone/>
            </a:pPr>
            <a:r>
              <a:rPr lang="en-US" sz="900" b="1" i="1" dirty="0">
                <a:solidFill>
                  <a:srgbClr val="ED7D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MMLongBench-Doc ≥ 40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263640" y="777240"/>
            <a:ext cx="553212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263640" y="777240"/>
            <a:ext cx="5532120" cy="384048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55080" y="822960"/>
            <a:ext cx="5349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Out-of-Scope:本次明确不做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373368" y="1234440"/>
            <a:ext cx="5312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图像生成 </a:t>
            </a:r>
            <a:pPr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无 dNaViT / VQ-VAE / DALL-E 风格 head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373368" y="1527048"/>
            <a:ext cx="5312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语音生成 </a:t>
            </a:r>
            <a:pPr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无 Talker / Code2Wav / RVQ-MTP head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373368" y="1819656"/>
            <a:ext cx="5312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视频生成 </a:t>
            </a:r>
            <a:pPr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完全不在范围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373368" y="2112264"/>
            <a:ext cx="5312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TTS / SeedTTS 系列 </a:t>
            </a:r>
            <a:pPr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不做评测,不投入数据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263640" y="2697480"/>
            <a:ext cx="5532120" cy="2697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D7D31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263640" y="2697480"/>
            <a:ext cx="5532120" cy="384048"/>
          </a:xfrm>
          <a:prstGeom prst="rect">
            <a:avLst/>
          </a:prstGeom>
          <a:solidFill>
            <a:srgbClr val="ED7D31"/>
          </a:solidFill>
          <a:ln w="12700">
            <a:solidFill>
              <a:srgbClr val="ED7D3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355080" y="2743200"/>
            <a:ext cx="5349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⚠ 关键约束 + 工作假设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373368" y="3154680"/>
            <a:ext cx="5312664" cy="2886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Base 类型 </a:t>
            </a:r>
            <a:pPr indent="0" marL="0">
              <a:buNone/>
            </a:pPr>
            <a:r>
              <a:rPr lang="en-US" sz="900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假设 MoE A3B(若 dense 需先 upcycle,加 4-6 周)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6373368" y="3461657"/>
            <a:ext cx="5312664" cy="2886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Base 词表 </a:t>
            </a:r>
            <a:pPr indent="0" marL="0">
              <a:buNone/>
            </a:pPr>
            <a:r>
              <a:rPr lang="en-US" sz="900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假设标准 BPE,不预留视觉/音频 token slot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6373368" y="3768634"/>
            <a:ext cx="5312664" cy="2886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ckpt 到达 </a:t>
            </a:r>
            <a:pPr indent="0" marL="0">
              <a:buNone/>
            </a:pPr>
            <a:r>
              <a:rPr lang="en-US" sz="900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 = 0(相对时间);本计划锁定 T-12 至 T+24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6373368" y="4075611"/>
            <a:ext cx="5312664" cy="2886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算力 </a:t>
            </a:r>
            <a:pPr indent="0" marL="0">
              <a:buNone/>
            </a:pPr>
            <a:r>
              <a:rPr lang="en-US" sz="900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假设可获 32-64 H100 节点(SFT)+ B200(RL)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6373368" y="4382589"/>
            <a:ext cx="5312664" cy="2886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团队 </a:t>
            </a:r>
            <a:pPr indent="0" marL="0">
              <a:buNone/>
            </a:pPr>
            <a:r>
              <a:rPr lang="en-US" sz="900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后训练 4-6 人 + 数据 2-3 人 + 评测 1-2 人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6373368" y="4689566"/>
            <a:ext cx="5312664" cy="2886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技术参考 </a:t>
            </a:r>
            <a:pPr indent="0" marL="0">
              <a:buNone/>
            </a:pPr>
            <a:r>
              <a:rPr lang="en-US" sz="900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Nemotron 3 Nano Omni 范式 + Qwen3.5 OPD trick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6373368" y="4996543"/>
            <a:ext cx="5312664" cy="2886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失败回滚 </a:t>
            </a:r>
            <a:pPr indent="0" marL="0">
              <a:buNone/>
            </a:pPr>
            <a:r>
              <a:rPr lang="en-US" sz="900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MMLU-Pro 损 &gt;2 pt 立即停 + 加 Text-RL S2 修复段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365760" y="5669280"/>
            <a:ext cx="11430000" cy="914400"/>
          </a:xfrm>
          <a:prstGeom prst="rect">
            <a:avLst/>
          </a:prstGeom>
          <a:solidFill>
            <a:srgbClr val="FFFFFF"/>
          </a:solidFill>
          <a:ln w="19050">
            <a:solidFill>
              <a:srgbClr val="C0000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57200" y="5742432"/>
            <a:ext cx="11247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❶ 路径锁定: </a:t>
            </a:r>
            <a:pPr indent="0" marL="0">
              <a:buNone/>
            </a:pPr>
            <a:r>
              <a:rPr lang="en-US" sz="1000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走 </a:t>
            </a:r>
            <a:pPr indent="0" marL="0">
              <a:buNone/>
            </a:pPr>
            <a:r>
              <a:rPr lang="en-US" sz="1000" b="1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Nemotron 模块化理解路径,</a:t>
            </a:r>
            <a:pPr indent="0" marL="0">
              <a:buNone/>
            </a:pPr>
            <a:r>
              <a:rPr lang="en-US" sz="1000" b="1" dirty="0">
                <a:solidFill>
                  <a:srgbClr val="ED7D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不做生成,不投入 Talker / 图像头 / 视频头训练</a:t>
            </a:r>
            <a:pPr indent="0" marL="0">
              <a:buNone/>
            </a:pP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457200" y="6016752"/>
            <a:ext cx="11247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❷ 文本红线: </a:t>
            </a:r>
            <a:pPr indent="0" marL="0">
              <a:buNone/>
            </a:pPr>
            <a:r>
              <a:rPr lang="en-US" sz="1000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MMLU-Pro 损 </a:t>
            </a:r>
            <a:pPr indent="0" marL="0">
              <a:buNone/>
            </a:pPr>
            <a:r>
              <a:rPr lang="en-US" sz="1000" b="1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是上线门槛,</a:t>
            </a:r>
            <a:pPr indent="0" marL="0">
              <a:buNone/>
            </a:pPr>
            <a:r>
              <a:rPr lang="en-US" sz="1000" b="1" dirty="0">
                <a:solidFill>
                  <a:srgbClr val="ED7D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≤ 2 pt </a:t>
            </a:r>
            <a:pPr indent="0" marL="0">
              <a:buNone/>
            </a:pPr>
            <a:r>
              <a:rPr lang="en-US" sz="900" i="1" dirty="0">
                <a:solidFill>
                  <a:srgbClr val="5959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Qwen3.5 0.9 / Nemotron 1.0 是可达分位线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457200" y="6291072"/>
            <a:ext cx="11247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❸ 时间窗: </a:t>
            </a:r>
            <a:pPr indent="0" marL="0">
              <a:buNone/>
            </a:pPr>
            <a:r>
              <a:rPr lang="en-US" sz="1000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T-12 至 T+24 共 </a:t>
            </a:r>
            <a:pPr indent="0" marL="0">
              <a:buNone/>
            </a:pPr>
            <a:r>
              <a:rPr lang="en-US" sz="1000" b="1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Pre-arrival 12 周做工程基建不依赖 ckpt</a:t>
            </a:r>
            <a:pPr indent="0" marL="0">
              <a:buNone/>
            </a:pPr>
            <a:r>
              <a:rPr lang="en-US" sz="1000" b="1" dirty="0">
                <a:solidFill>
                  <a:srgbClr val="ED7D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36 周,</a:t>
            </a:r>
            <a:pPr indent="0" marL="0">
              <a:buNone/>
            </a:pP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365760" y="6638544"/>
            <a:ext cx="11430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5959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Source: </a:t>
            </a:r>
            <a:pPr indent="0" marL="0">
              <a:buNone/>
            </a:pPr>
            <a:r>
              <a:rPr lang="en-US" sz="800" i="1" u="sng" dirty="0">
                <a:solidFill>
                  <a:srgbClr val="C00000"/>
                </a:solidFill>
                <a:uFill>
                  <a:solidFill>
                    <a:srgbClr val="C00000"/>
                  </a:solidFill>
                </a:u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Nemotron 3 Nano Omni 范式</a:t>
            </a:r>
            <a:pPr indent="0" marL="0">
              <a:buNone/>
            </a:pPr>
            <a:r>
              <a:rPr lang="en-US" sz="800" i="1" dirty="0">
                <a:solidFill>
                  <a:srgbClr val="5959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(arxiv 2604.24954) | </a:t>
            </a:r>
            <a:pPr indent="0" marL="0">
              <a:buNone/>
            </a:pPr>
            <a:r>
              <a:rPr lang="en-US" sz="800" i="1" u="sng" dirty="0">
                <a:solidFill>
                  <a:srgbClr val="C00000"/>
                </a:solidFill>
                <a:uFill>
                  <a:solidFill>
                    <a:srgbClr val="C00000"/>
                  </a:solidFill>
                </a:u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Qwen3.5-Omni OPD / Specialist</a:t>
            </a:r>
            <a:pPr indent="0" marL="0">
              <a:buNone/>
            </a:pPr>
            <a:r>
              <a:rPr lang="en-US" sz="800" i="1" dirty="0">
                <a:solidFill>
                  <a:srgbClr val="5959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(arxiv 2604.15804) | </a:t>
            </a:r>
            <a:pPr indent="0" marL="0">
              <a:buNone/>
            </a:pPr>
            <a:r>
              <a:rPr lang="en-US" sz="800" i="1" u="sng" dirty="0">
                <a:solidFill>
                  <a:srgbClr val="C00000"/>
                </a:solidFill>
                <a:uFill>
                  <a:solidFill>
                    <a:srgbClr val="C00000"/>
                  </a:solidFill>
                </a:u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内部规划假设</a:t>
            </a:r>
            <a:pPr indent="0" marL="0">
              <a:buNone/>
            </a:pPr>
            <a:r>
              <a:rPr lang="en-US" sz="800" i="1" dirty="0">
                <a:solidFill>
                  <a:srgbClr val="5959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(compute / team / timeline)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11430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总体路线图</a:t>
            </a:r>
            <a:pPr indent="0" marL="0">
              <a:buNone/>
            </a:pPr>
            <a:r>
              <a:rPr lang="en-US" sz="2400" b="1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: </a:t>
            </a:r>
            <a:pPr indent="0" marL="0">
              <a:buNone/>
            </a:pPr>
            <a:r>
              <a:rPr lang="en-US" sz="2200" b="1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Pre-arrival 5 流并行 → ckpt 到达 → 4 段后训练,T-12 至 T+24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365760" y="658368"/>
            <a:ext cx="11430000" cy="0"/>
          </a:xfrm>
          <a:prstGeom prst="line">
            <a:avLst/>
          </a:prstGeom>
          <a:noFill/>
          <a:ln w="19050">
            <a:solidFill>
              <a:srgbClr val="C000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1143000"/>
            <a:ext cx="11430000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1051560"/>
            <a:ext cx="182880" cy="182880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-411480" y="795528"/>
            <a:ext cx="1554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B0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T-12 周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-411480" y="1280160"/>
            <a:ext cx="1554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5959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Pre-arrival 启动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331720" y="1051560"/>
            <a:ext cx="182880" cy="182880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645920" y="795528"/>
            <a:ext cx="1554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B0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T-8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645920" y="1280160"/>
            <a:ext cx="1554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5959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 + 评测 ready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4160520" y="1051560"/>
            <a:ext cx="182880" cy="182880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74720" y="795528"/>
            <a:ext cx="1554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B0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T-4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474720" y="1280160"/>
            <a:ext cx="1554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5959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代码 + dry run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5989320" y="1051560"/>
            <a:ext cx="182880" cy="182880"/>
          </a:xfrm>
          <a:prstGeom prst="ellipse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303520" y="795528"/>
            <a:ext cx="1554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 = 0 (ckpt 到达)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5303520" y="1280160"/>
            <a:ext cx="1554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5959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Sanity + 启动 SFT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7360920" y="1051560"/>
            <a:ext cx="182880" cy="182880"/>
          </a:xfrm>
          <a:prstGeom prst="ellipse">
            <a:avLst/>
          </a:prstGeom>
          <a:solidFill>
            <a:srgbClr val="ED7D31"/>
          </a:solidFill>
          <a:ln w="12700">
            <a:solidFill>
              <a:srgbClr val="ED7D3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675120" y="795528"/>
            <a:ext cx="1554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D7D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T+6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675120" y="1280160"/>
            <a:ext cx="1554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5959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Vision SFT 完成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8732520" y="1051560"/>
            <a:ext cx="182880" cy="182880"/>
          </a:xfrm>
          <a:prstGeom prst="ellipse">
            <a:avLst/>
          </a:prstGeom>
          <a:solidFill>
            <a:srgbClr val="ED7D31"/>
          </a:solidFill>
          <a:ln w="12700">
            <a:solidFill>
              <a:srgbClr val="ED7D3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046720" y="795528"/>
            <a:ext cx="1554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D7D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T+12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8046720" y="1280160"/>
            <a:ext cx="1554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5959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Audio + Omni SFT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9989820" y="1051560"/>
            <a:ext cx="182880" cy="182880"/>
          </a:xfrm>
          <a:prstGeom prst="ellipse">
            <a:avLst/>
          </a:prstGeom>
          <a:solidFill>
            <a:srgbClr val="ED7D31"/>
          </a:solidFill>
          <a:ln w="12700">
            <a:solidFill>
              <a:srgbClr val="ED7D3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304020" y="795528"/>
            <a:ext cx="1554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D7D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T+18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9304020" y="1280160"/>
            <a:ext cx="1554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5959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RL 3 段完成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11704320" y="1051560"/>
            <a:ext cx="182880" cy="182880"/>
          </a:xfrm>
          <a:prstGeom prst="ellipse">
            <a:avLst/>
          </a:prstGeom>
          <a:solidFill>
            <a:srgbClr val="70AD47"/>
          </a:solidFill>
          <a:ln w="12700">
            <a:solidFill>
              <a:srgbClr val="70AD4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1018520" y="795528"/>
            <a:ext cx="1554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70AD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T+24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1018520" y="1280160"/>
            <a:ext cx="1554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5959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上线评估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6080760" y="777240"/>
            <a:ext cx="0" cy="868680"/>
          </a:xfrm>
          <a:prstGeom prst="line">
            <a:avLst/>
          </a:prstGeom>
          <a:noFill/>
          <a:ln w="25400">
            <a:solidFill>
              <a:srgbClr val="C00000"/>
            </a:solidFill>
            <a:prstDash val="dash"/>
          </a:ln>
        </p:spPr>
      </p:sp>
      <p:sp>
        <p:nvSpPr>
          <p:cNvPr id="30" name="Shape 28"/>
          <p:cNvSpPr/>
          <p:nvPr/>
        </p:nvSpPr>
        <p:spPr>
          <a:xfrm>
            <a:off x="365760" y="1783080"/>
            <a:ext cx="1280160" cy="1143000"/>
          </a:xfrm>
          <a:prstGeom prst="rect">
            <a:avLst/>
          </a:prstGeom>
          <a:solidFill>
            <a:srgbClr val="00B0F0"/>
          </a:solidFill>
          <a:ln w="12700">
            <a:solidFill>
              <a:srgbClr val="00B0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11480" y="1783080"/>
            <a:ext cx="118872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Pre-arrival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(T-12 → T)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1737360" y="1783080"/>
            <a:ext cx="10058400" cy="1143000"/>
          </a:xfrm>
          <a:prstGeom prst="rect">
            <a:avLst/>
          </a:prstGeom>
          <a:solidFill>
            <a:srgbClr val="F2F2F2"/>
          </a:solidFill>
          <a:ln w="6350">
            <a:solidFill>
              <a:srgbClr val="BFBFBF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773936" y="1856232"/>
            <a:ext cx="1737360" cy="996696"/>
          </a:xfrm>
          <a:prstGeom prst="rect">
            <a:avLst/>
          </a:prstGeom>
          <a:solidFill>
            <a:srgbClr val="FFFFFF"/>
          </a:solidFill>
          <a:ln w="12700">
            <a:solidFill>
              <a:srgbClr val="00B0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792224" y="1874520"/>
            <a:ext cx="1700784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B0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数据流水线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00B0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+ 来源谈判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3584448" y="1856232"/>
            <a:ext cx="1536192" cy="996696"/>
          </a:xfrm>
          <a:prstGeom prst="rect">
            <a:avLst/>
          </a:prstGeom>
          <a:solidFill>
            <a:srgbClr val="FFFFFF"/>
          </a:solidFill>
          <a:ln w="12700">
            <a:solidFill>
              <a:srgbClr val="00B0F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602736" y="1874520"/>
            <a:ext cx="1499616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B0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评测 harness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00B0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+ 监控仪表盘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5193792" y="1856232"/>
            <a:ext cx="1536192" cy="996696"/>
          </a:xfrm>
          <a:prstGeom prst="rect">
            <a:avLst/>
          </a:prstGeom>
          <a:solidFill>
            <a:srgbClr val="FFFFFF"/>
          </a:solidFill>
          <a:ln w="12700">
            <a:solidFill>
              <a:srgbClr val="00B0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212080" y="1874520"/>
            <a:ext cx="1499616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B0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代码 port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00B0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+ Megatron-Bridge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365760" y="3017520"/>
            <a:ext cx="1280160" cy="1143000"/>
          </a:xfrm>
          <a:prstGeom prst="rect">
            <a:avLst/>
          </a:prstGeom>
          <a:solidFill>
            <a:srgbClr val="7030A0"/>
          </a:solidFill>
          <a:ln w="12700">
            <a:solidFill>
              <a:srgbClr val="7030A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11480" y="3017520"/>
            <a:ext cx="118872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Encoder &amp;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Projector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(T-8 → T+2)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1737360" y="3017520"/>
            <a:ext cx="10058400" cy="1143000"/>
          </a:xfrm>
          <a:prstGeom prst="rect">
            <a:avLst/>
          </a:prstGeom>
          <a:solidFill>
            <a:srgbClr val="F2F2F2"/>
          </a:solidFill>
          <a:ln w="6350">
            <a:solidFill>
              <a:srgbClr val="BFBFBF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791456" y="3090672"/>
            <a:ext cx="2139696" cy="996696"/>
          </a:xfrm>
          <a:prstGeom prst="rect">
            <a:avLst/>
          </a:prstGeom>
          <a:solidFill>
            <a:srgbClr val="FFFFFF"/>
          </a:solidFill>
          <a:ln w="12700">
            <a:solidFill>
              <a:srgbClr val="7030A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809744" y="3108960"/>
            <a:ext cx="21031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7030A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Encoder 选型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7030A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(SigLIP / RADIO + Whisper)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6803136" y="3090672"/>
            <a:ext cx="1133856" cy="996696"/>
          </a:xfrm>
          <a:prstGeom prst="rect">
            <a:avLst/>
          </a:prstGeom>
          <a:solidFill>
            <a:srgbClr val="FFFFFF"/>
          </a:solidFill>
          <a:ln w="12700">
            <a:solidFill>
              <a:srgbClr val="7030A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821424" y="3108960"/>
            <a:ext cx="10972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7030A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Projector dry run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7030A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on proxy base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365760" y="4251960"/>
            <a:ext cx="1280160" cy="1143000"/>
          </a:xfrm>
          <a:prstGeom prst="rect">
            <a:avLst/>
          </a:prstGeom>
          <a:solidFill>
            <a:srgbClr val="ED7D31"/>
          </a:solidFill>
          <a:ln w="12700">
            <a:solidFill>
              <a:srgbClr val="ED7D31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11480" y="4251960"/>
            <a:ext cx="118872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后训练 4 段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(T → T+24)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1737360" y="4251960"/>
            <a:ext cx="10058400" cy="1143000"/>
          </a:xfrm>
          <a:prstGeom prst="rect">
            <a:avLst/>
          </a:prstGeom>
          <a:solidFill>
            <a:srgbClr val="F2F2F2"/>
          </a:solidFill>
          <a:ln w="6350">
            <a:solidFill>
              <a:srgbClr val="BFBFBF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6803136" y="4325112"/>
            <a:ext cx="1133856" cy="996696"/>
          </a:xfrm>
          <a:prstGeom prst="rect">
            <a:avLst/>
          </a:prstGeom>
          <a:solidFill>
            <a:srgbClr val="FFFFFF"/>
          </a:solidFill>
          <a:ln w="12700">
            <a:solidFill>
              <a:srgbClr val="ED7D31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821424" y="4343400"/>
            <a:ext cx="10972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D7D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Phase 1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ED7D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Sanity + Stage 0/1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ED7D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(Vision SFT)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8010144" y="4325112"/>
            <a:ext cx="1133856" cy="996696"/>
          </a:xfrm>
          <a:prstGeom prst="rect">
            <a:avLst/>
          </a:prstGeom>
          <a:solidFill>
            <a:srgbClr val="FFFFFF"/>
          </a:solidFill>
          <a:ln w="12700">
            <a:solidFill>
              <a:srgbClr val="ED7D31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8028432" y="4343400"/>
            <a:ext cx="10972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D7D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Phase 2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ED7D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Stage 2/3/4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ED7D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(Audio + Omni SFT)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9217152" y="4325112"/>
            <a:ext cx="1133856" cy="996696"/>
          </a:xfrm>
          <a:prstGeom prst="rect">
            <a:avLst/>
          </a:prstGeom>
          <a:solidFill>
            <a:srgbClr val="FFFFFF"/>
          </a:solidFill>
          <a:ln w="12700">
            <a:solidFill>
              <a:srgbClr val="ED7D31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9235440" y="4343400"/>
            <a:ext cx="10972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D7D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Phase 3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ED7D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Stage 5 + RL prep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ED7D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(48K 长上下文)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10323576" y="4325112"/>
            <a:ext cx="1435608" cy="996696"/>
          </a:xfrm>
          <a:prstGeom prst="rect">
            <a:avLst/>
          </a:prstGeom>
          <a:solidFill>
            <a:srgbClr val="FFFFFF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10341864" y="4343400"/>
            <a:ext cx="1399032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Phase 4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MPO+Image-RL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+Text-RL S2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365760" y="5669280"/>
            <a:ext cx="11430000" cy="914400"/>
          </a:xfrm>
          <a:prstGeom prst="rect">
            <a:avLst/>
          </a:prstGeom>
          <a:solidFill>
            <a:srgbClr val="FFFFFF"/>
          </a:solidFill>
          <a:ln w="19050">
            <a:solidFill>
              <a:srgbClr val="C00000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457200" y="5742432"/>
            <a:ext cx="11247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❶ 12 周 pre-arrival: </a:t>
            </a:r>
            <a:pPr indent="0" marL="0">
              <a:buNone/>
            </a:pPr>
            <a:r>
              <a:rPr lang="en-US" sz="1000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 / 评测 / 代码三流并行,</a:t>
            </a:r>
            <a:pPr indent="0" marL="0">
              <a:buNone/>
            </a:pPr>
            <a:r>
              <a:rPr lang="en-US" sz="1000" b="1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全部不依赖 ckpt;</a:t>
            </a:r>
            <a:pPr indent="0" marL="0">
              <a:buNone/>
            </a:pPr>
            <a:r>
              <a:rPr lang="en-US" sz="1000" b="1" dirty="0">
                <a:solidFill>
                  <a:srgbClr val="ED7D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ckpt 到达即可立刻启动 Phase 1</a:t>
            </a:r>
            <a:pPr indent="0" marL="0">
              <a:buNone/>
            </a:pPr>
            <a:endParaRPr lang="en-US" sz="1100" dirty="0"/>
          </a:p>
        </p:txBody>
      </p:sp>
      <p:sp>
        <p:nvSpPr>
          <p:cNvPr id="59" name="Text 57"/>
          <p:cNvSpPr/>
          <p:nvPr/>
        </p:nvSpPr>
        <p:spPr>
          <a:xfrm>
            <a:off x="457200" y="6016752"/>
            <a:ext cx="11247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❷ 4 段后训练: </a:t>
            </a:r>
            <a:pPr indent="0" marL="0">
              <a:buNone/>
            </a:pPr>
            <a:r>
              <a:rPr lang="en-US" sz="1000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Phase 1-3 SFT(18 周)+ Phase 4 RL(6 周),</a:t>
            </a:r>
            <a:pPr indent="0" marL="0">
              <a:buNone/>
            </a:pPr>
            <a:r>
              <a:rPr lang="en-US" sz="1000" b="1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总共 24 周</a:t>
            </a:r>
            <a:pPr indent="0" marL="0">
              <a:buNone/>
            </a:pPr>
            <a:r>
              <a:rPr lang="en-US" sz="1000" b="1" dirty="0">
                <a:solidFill>
                  <a:srgbClr val="ED7D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;不走 Stage 6 256K(成本过高,理解场景非必要)</a:t>
            </a:r>
            <a:pPr indent="0" marL="0">
              <a:buNone/>
            </a:pPr>
            <a:endParaRPr lang="en-US" sz="1100" dirty="0"/>
          </a:p>
        </p:txBody>
      </p:sp>
      <p:sp>
        <p:nvSpPr>
          <p:cNvPr id="60" name="Text 58"/>
          <p:cNvSpPr/>
          <p:nvPr/>
        </p:nvSpPr>
        <p:spPr>
          <a:xfrm>
            <a:off x="457200" y="6291072"/>
            <a:ext cx="11247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❸ 关键里程碑: </a:t>
            </a:r>
            <a:pPr indent="0" marL="0">
              <a:buNone/>
            </a:pPr>
            <a:r>
              <a:rPr lang="en-US" sz="1000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T+6 vision SFT 完成 → T+12 omni SFT 完成 → T+18 RL 完成 → </a:t>
            </a:r>
            <a:pPr indent="0" marL="0">
              <a:buNone/>
            </a:pPr>
            <a:r>
              <a:rPr lang="en-US" sz="1000" b="1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T+24 上线评估</a:t>
            </a:r>
            <a:pPr indent="0" marL="0">
              <a:buNone/>
            </a:pPr>
            <a:r>
              <a:rPr lang="en-US" sz="1000" b="1" dirty="0">
                <a:solidFill>
                  <a:srgbClr val="ED7D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,每节点设 go/no-go gate</a:t>
            </a:r>
            <a:pPr indent="0" marL="0">
              <a:buNone/>
            </a:pPr>
            <a:endParaRPr lang="en-US" sz="1100" dirty="0"/>
          </a:p>
        </p:txBody>
      </p:sp>
      <p:sp>
        <p:nvSpPr>
          <p:cNvPr id="61" name="Text 59"/>
          <p:cNvSpPr/>
          <p:nvPr/>
        </p:nvSpPr>
        <p:spPr>
          <a:xfrm>
            <a:off x="365760" y="6638544"/>
            <a:ext cx="11430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5959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Source: </a:t>
            </a:r>
            <a:pPr indent="0" marL="0">
              <a:buNone/>
            </a:pPr>
            <a:r>
              <a:rPr lang="en-US" sz="800" i="1" u="sng" dirty="0">
                <a:solidFill>
                  <a:srgbClr val="C00000"/>
                </a:solidFill>
                <a:uFill>
                  <a:solidFill>
                    <a:srgbClr val="C00000"/>
                  </a:solidFill>
                </a:u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Nemotron 7 阶段渐进式 SFT</a:t>
            </a:r>
            <a:pPr indent="0" marL="0">
              <a:buNone/>
            </a:pPr>
            <a:r>
              <a:rPr lang="en-US" sz="800" i="1" dirty="0">
                <a:solidFill>
                  <a:srgbClr val="5959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(本计划简化为 5 段,跳过 Stage 6) | </a:t>
            </a:r>
            <a:pPr indent="0" marL="0">
              <a:buNone/>
            </a:pPr>
            <a:r>
              <a:rPr lang="en-US" sz="800" i="1" u="sng" dirty="0">
                <a:solidFill>
                  <a:srgbClr val="C00000"/>
                </a:solidFill>
                <a:uFill>
                  <a:solidFill>
                    <a:srgbClr val="C00000"/>
                  </a:solidFill>
                </a:u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内部时间表估算</a:t>
            </a:r>
            <a:pPr indent="0" marL="0">
              <a:buNone/>
            </a:pPr>
            <a:r>
              <a:rPr lang="en-US" sz="800" i="1" dirty="0">
                <a:solidFill>
                  <a:srgbClr val="5959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(基于 32-64 H100 节点 + 4-6 人 team)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11430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Pre-arrival 5 流</a:t>
            </a:r>
            <a:pPr indent="0" marL="0">
              <a:buNone/>
            </a:pPr>
            <a:r>
              <a:rPr lang="en-US" sz="2400" b="1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: </a:t>
            </a:r>
            <a:pPr indent="0" marL="0">
              <a:buNone/>
            </a:pPr>
            <a:r>
              <a:rPr lang="en-US" sz="2200" b="1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全部不需 ckpt,80% 工程在 ckpt 到达前完成,T-12 至 T = 0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365760" y="658368"/>
            <a:ext cx="11430000" cy="0"/>
          </a:xfrm>
          <a:prstGeom prst="line">
            <a:avLst/>
          </a:prstGeom>
          <a:noFill/>
          <a:ln w="19050">
            <a:solidFill>
              <a:srgbClr val="C000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777240"/>
            <a:ext cx="374904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B0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777240"/>
            <a:ext cx="3749040" cy="365760"/>
          </a:xfrm>
          <a:prstGeom prst="rect">
            <a:avLst/>
          </a:prstGeom>
          <a:solidFill>
            <a:srgbClr val="00B0F0"/>
          </a:solidFill>
          <a:ln w="12700">
            <a:solidFill>
              <a:srgbClr val="00B0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813816"/>
            <a:ext cx="3566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  </a:t>
            </a:r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数据流水线</a:t>
            </a:r>
            <a:pPr indent="0" marL="0">
              <a:buNone/>
            </a:pPr>
            <a:r>
              <a:rPr lang="en-US" sz="1000" i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Data team (2-3 人)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75488" y="1188720"/>
            <a:ext cx="35295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B0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</a:t>
            </a:r>
            <a:pPr indent="0" marL="0">
              <a:buNone/>
            </a:pPr>
            <a:r>
              <a:rPr lang="en-US" sz="900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Vision: LLaVA-OneVision + Cambrian-7M + Cauldron 全量预下载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75488" y="1435608"/>
            <a:ext cx="35295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B0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</a:t>
            </a:r>
            <a:pPr indent="0" marL="0">
              <a:buNone/>
            </a:pPr>
            <a:r>
              <a:rPr lang="en-US" sz="900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Audio: Granary v1.1 ASR(59M)+ AudioCaps + WavCaps + Common Voice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75488" y="1682496"/>
            <a:ext cx="35295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B0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</a:t>
            </a:r>
            <a:pPr indent="0" marL="0">
              <a:buNone/>
            </a:pPr>
            <a:r>
              <a:rPr lang="en-US" sz="900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Video: ShareGPT4Video + LLaVA-Video-178K + WebVid-10M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75488" y="1929384"/>
            <a:ext cx="35295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B0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</a:t>
            </a:r>
            <a:pPr indent="0" marL="0">
              <a:buNone/>
            </a:pPr>
            <a:r>
              <a:rPr lang="en-US" sz="900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交错图文: MMC4 + OBELICS(关键稀缺,需谈判 / 自建)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75488" y="2176272"/>
            <a:ext cx="35295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B0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</a:t>
            </a:r>
            <a:pPr indent="0" marL="0">
              <a:buNone/>
            </a:pPr>
            <a:r>
              <a:rPr lang="en-US" sz="900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偏好: RLHF-V + VLFeedback + POVID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" y="2523744"/>
            <a:ext cx="3566160" cy="0"/>
          </a:xfrm>
          <a:prstGeom prst="line">
            <a:avLst/>
          </a:prstGeom>
          <a:noFill/>
          <a:ln w="6350">
            <a:solidFill>
              <a:srgbClr val="BFBFB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5488" y="2560320"/>
            <a:ext cx="3529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交付  </a:t>
            </a:r>
            <a:pPr indent="0" marL="0">
              <a:buNone/>
            </a:pPr>
            <a:r>
              <a:rPr lang="en-US" sz="900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T-4 周前:全量数据落地 + tokenize + sharded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75488" y="2779776"/>
            <a:ext cx="3529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D7D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依赖  </a:t>
            </a:r>
            <a:pPr indent="0" marL="0">
              <a:buNone/>
            </a:pPr>
            <a:r>
              <a:rPr lang="en-US" sz="900" i="1" dirty="0">
                <a:solidFill>
                  <a:srgbClr val="5959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无(完全独立)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206240" y="777240"/>
            <a:ext cx="374904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70AD47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206240" y="777240"/>
            <a:ext cx="3749040" cy="365760"/>
          </a:xfrm>
          <a:prstGeom prst="rect">
            <a:avLst/>
          </a:prstGeom>
          <a:solidFill>
            <a:srgbClr val="70AD47"/>
          </a:solidFill>
          <a:ln w="12700">
            <a:solidFill>
              <a:srgbClr val="70AD4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297680" y="813816"/>
            <a:ext cx="3566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  </a:t>
            </a:r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评测 harness</a:t>
            </a:r>
            <a:pPr indent="0" marL="0">
              <a:buNone/>
            </a:pPr>
            <a:r>
              <a:rPr lang="en-US" sz="1000" i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Eval team (1-2 人)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315968" y="1188720"/>
            <a:ext cx="35295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0AD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</a:t>
            </a:r>
            <a:pPr indent="0" marL="0">
              <a:buNone/>
            </a:pPr>
            <a:r>
              <a:rPr lang="en-US" sz="900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VLMEvalKit fork + 内部 fork branch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315968" y="1435608"/>
            <a:ext cx="35295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0AD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</a:t>
            </a:r>
            <a:pPr indent="0" marL="0">
              <a:buNone/>
            </a:pPr>
            <a:r>
              <a:rPr lang="en-US" sz="900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 维 36 项评测整合(含 ScreenSpot-Pro / DailyOmni)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315968" y="1682496"/>
            <a:ext cx="35295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0AD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</a:t>
            </a:r>
            <a:pPr indent="0" marL="0">
              <a:buNone/>
            </a:pPr>
            <a:r>
              <a:rPr lang="en-US" sz="900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文本回归测试套件:MMLU-Pro / IFBench / AIME25 / LiveCodeBench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315968" y="1929384"/>
            <a:ext cx="35295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0AD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</a:t>
            </a:r>
            <a:pPr indent="0" marL="0">
              <a:buNone/>
            </a:pPr>
            <a:r>
              <a:rPr lang="en-US" sz="900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自动化每 1B token 跑一次 mini-eval(早期发现漂移)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315968" y="2176272"/>
            <a:ext cx="35295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0AD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</a:t>
            </a:r>
            <a:pPr indent="0" marL="0">
              <a:buNone/>
            </a:pPr>
            <a:r>
              <a:rPr lang="en-US" sz="900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WandB / TensorBoard 仪表盘 + 每日报告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297680" y="2523744"/>
            <a:ext cx="3566160" cy="0"/>
          </a:xfrm>
          <a:prstGeom prst="line">
            <a:avLst/>
          </a:prstGeom>
          <a:noFill/>
          <a:ln w="6350">
            <a:solidFill>
              <a:srgbClr val="BFBFB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315968" y="2560320"/>
            <a:ext cx="3529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交付  </a:t>
            </a:r>
            <a:pPr indent="0" marL="0">
              <a:buNone/>
            </a:pPr>
            <a:r>
              <a:rPr lang="en-US" sz="900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T-8 周前:harness 通过,跑通 Qwen2.5-VL 基线对照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315968" y="2779776"/>
            <a:ext cx="3529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D7D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依赖  </a:t>
            </a:r>
            <a:pPr indent="0" marL="0">
              <a:buNone/>
            </a:pPr>
            <a:r>
              <a:rPr lang="en-US" sz="900" i="1" dirty="0">
                <a:solidFill>
                  <a:srgbClr val="5959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无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8046720" y="777240"/>
            <a:ext cx="374904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D7D31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046720" y="777240"/>
            <a:ext cx="3749040" cy="365760"/>
          </a:xfrm>
          <a:prstGeom prst="rect">
            <a:avLst/>
          </a:prstGeom>
          <a:solidFill>
            <a:srgbClr val="ED7D31"/>
          </a:solidFill>
          <a:ln w="12700">
            <a:solidFill>
              <a:srgbClr val="ED7D3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138160" y="813816"/>
            <a:ext cx="3566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③  </a:t>
            </a:r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代码 port</a:t>
            </a:r>
            <a:pPr indent="0" marL="0">
              <a:buNone/>
            </a:pPr>
            <a:r>
              <a:rPr lang="en-US" sz="1000" i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Eng team (2 人)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8156448" y="1188720"/>
            <a:ext cx="35295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D7D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</a:t>
            </a:r>
            <a:pPr indent="0" marL="0">
              <a:buNone/>
            </a:pPr>
            <a:r>
              <a:rPr lang="en-US" sz="900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Megatron-Bridge fork + 适配自家 base 架构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8156448" y="1435608"/>
            <a:ext cx="35295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D7D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</a:t>
            </a:r>
            <a:pPr indent="0" marL="0">
              <a:buNone/>
            </a:pPr>
            <a:r>
              <a:rPr lang="en-US" sz="900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NeMo-RL 移植 + GSPO 实现验证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8156448" y="1682496"/>
            <a:ext cx="35295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D7D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</a:t>
            </a:r>
            <a:pPr indent="0" marL="0">
              <a:buNone/>
            </a:pPr>
            <a:r>
              <a:rPr lang="en-US" sz="900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MoE-aware sequence packing + context parallel(Stage 5 用)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8156448" y="1929384"/>
            <a:ext cx="35295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D7D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</a:t>
            </a:r>
            <a:pPr indent="0" marL="0">
              <a:buNone/>
            </a:pPr>
            <a:r>
              <a:rPr lang="en-US" sz="900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Encoder hot-swap(支持 SigLIP / C-RADIOv4 / NaViT 切换)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8156448" y="2176272"/>
            <a:ext cx="35295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D7D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</a:t>
            </a:r>
            <a:pPr indent="0" marL="0">
              <a:buNone/>
            </a:pPr>
            <a:r>
              <a:rPr lang="en-US" sz="900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Projector 模板代码(MLP / Q-Former 两套)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8138160" y="2523744"/>
            <a:ext cx="3566160" cy="0"/>
          </a:xfrm>
          <a:prstGeom prst="line">
            <a:avLst/>
          </a:prstGeom>
          <a:noFill/>
          <a:ln w="6350">
            <a:solidFill>
              <a:srgbClr val="BFBFB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156448" y="2560320"/>
            <a:ext cx="3529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交付  </a:t>
            </a:r>
            <a:pPr indent="0" marL="0">
              <a:buNone/>
            </a:pPr>
            <a:r>
              <a:rPr lang="en-US" sz="900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T-4 周前:代码全通过 + 在 Qwen2.5-VL ckpt 上 dry run 出能力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8156448" y="2779776"/>
            <a:ext cx="3529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D7D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依赖  </a:t>
            </a:r>
            <a:pPr indent="0" marL="0">
              <a:buNone/>
            </a:pPr>
            <a:r>
              <a:rPr lang="en-US" sz="900" i="1" dirty="0">
                <a:solidFill>
                  <a:srgbClr val="5959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Megatron 内部版本(对齐预训练 team)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365760" y="3154680"/>
            <a:ext cx="374904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7030A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65760" y="3154680"/>
            <a:ext cx="3749040" cy="365760"/>
          </a:xfrm>
          <a:prstGeom prst="rect">
            <a:avLst/>
          </a:prstGeom>
          <a:solidFill>
            <a:srgbClr val="7030A0"/>
          </a:solidFill>
          <a:ln w="12700">
            <a:solidFill>
              <a:srgbClr val="7030A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57200" y="3191256"/>
            <a:ext cx="3566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④  </a:t>
            </a:r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Encoder 选型</a:t>
            </a:r>
            <a:pPr indent="0" marL="0">
              <a:buNone/>
            </a:pPr>
            <a:r>
              <a:rPr lang="en-US" sz="1000" i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Research (1-2 人)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475488" y="3566160"/>
            <a:ext cx="35295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030A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</a:t>
            </a:r>
            <a:pPr indent="0" marL="0">
              <a:buNone/>
            </a:pPr>
            <a:r>
              <a:rPr lang="en-US" sz="900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Vision: SigLIP-SO400M vs C-RADIOv4-H 对比实验(用 proxy base)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475488" y="3813048"/>
            <a:ext cx="35295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030A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</a:t>
            </a:r>
            <a:pPr indent="0" marL="0">
              <a:buNone/>
            </a:pPr>
            <a:r>
              <a:rPr lang="en-US" sz="900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Audio: Whisper-large-v3 vs Parakeet-TDT-0.6B 对比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475488" y="4059936"/>
            <a:ext cx="35295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030A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</a:t>
            </a:r>
            <a:pPr indent="0" marL="0">
              <a:buNone/>
            </a:pPr>
            <a:r>
              <a:rPr lang="en-US" sz="900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Video: 复用 Vision encoder + Conv3D 时序压缩(Nemotron 同方案)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475488" y="4306824"/>
            <a:ext cx="35295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030A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</a:t>
            </a:r>
            <a:pPr indent="0" marL="0">
              <a:buNone/>
            </a:pPr>
            <a:r>
              <a:rPr lang="en-US" sz="900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EVS(Efficient Video Sampling)实现 + q 值调参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475488" y="4553712"/>
            <a:ext cx="35295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030A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</a:t>
            </a:r>
            <a:pPr indent="0" marL="0">
              <a:buNone/>
            </a:pPr>
            <a:r>
              <a:rPr lang="en-US" sz="900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动态分辨率 + M-RoPE 实现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457200" y="4901184"/>
            <a:ext cx="3566160" cy="0"/>
          </a:xfrm>
          <a:prstGeom prst="line">
            <a:avLst/>
          </a:prstGeom>
          <a:noFill/>
          <a:ln w="6350">
            <a:solidFill>
              <a:srgbClr val="BFBFBF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75488" y="4937760"/>
            <a:ext cx="3529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交付  </a:t>
            </a:r>
            <a:pPr indent="0" marL="0">
              <a:buNone/>
            </a:pPr>
            <a:r>
              <a:rPr lang="en-US" sz="900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T-2 周前:确定 encoder 组合 + projector 架构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475488" y="5157216"/>
            <a:ext cx="3529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D7D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依赖  </a:t>
            </a:r>
            <a:pPr indent="0" marL="0">
              <a:buNone/>
            </a:pPr>
            <a:r>
              <a:rPr lang="en-US" sz="900" i="1" dirty="0">
                <a:solidFill>
                  <a:srgbClr val="5959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Eval harness ready(②)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4206240" y="3154680"/>
            <a:ext cx="758952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4206240" y="3154680"/>
            <a:ext cx="7589520" cy="365760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297680" y="3191256"/>
            <a:ext cx="7406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⑤  </a:t>
            </a:r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Tokenizer 规划</a:t>
            </a:r>
            <a:pPr indent="0" marL="0">
              <a:buNone/>
            </a:pPr>
            <a:r>
              <a:rPr lang="en-US" sz="1000" i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Cross-team (1 人接口)</a:t>
            </a:r>
            <a:endParaRPr lang="en-US" sz="1400" dirty="0"/>
          </a:p>
        </p:txBody>
      </p:sp>
      <p:sp>
        <p:nvSpPr>
          <p:cNvPr id="51" name="Text 49"/>
          <p:cNvSpPr/>
          <p:nvPr/>
        </p:nvSpPr>
        <p:spPr>
          <a:xfrm>
            <a:off x="4315968" y="3566160"/>
            <a:ext cx="73700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</a:t>
            </a:r>
            <a:pPr indent="0" marL="0">
              <a:buNone/>
            </a:pPr>
            <a:r>
              <a:rPr lang="en-US" sz="900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对齐预训练 team:词表是否预留 special tokens(&lt;image&gt; / &lt;audio&gt;)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4315968" y="3813048"/>
            <a:ext cx="73700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</a:t>
            </a:r>
            <a:pPr indent="0" marL="0">
              <a:buNone/>
            </a:pPr>
            <a:r>
              <a:rPr lang="en-US" sz="900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若未预留:扩词表方案 + 新 token embedding 初始化策略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4315968" y="4059936"/>
            <a:ext cx="73700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</a:t>
            </a:r>
            <a:pPr indent="0" marL="0">
              <a:buNone/>
            </a:pPr>
            <a:r>
              <a:rPr lang="en-US" sz="900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ChatML 模板对齐(消息 / 多轮 / 工具调用)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4315968" y="4306824"/>
            <a:ext cx="73700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</a:t>
            </a:r>
            <a:pPr indent="0" marL="0">
              <a:buNone/>
            </a:pPr>
            <a:r>
              <a:rPr lang="en-US" sz="900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音视频 placeholder token 数估算(影响 context budget)</a:t>
            </a:r>
            <a:endParaRPr lang="en-US" sz="1000" dirty="0"/>
          </a:p>
        </p:txBody>
      </p:sp>
      <p:sp>
        <p:nvSpPr>
          <p:cNvPr id="55" name="Text 53"/>
          <p:cNvSpPr/>
          <p:nvPr/>
        </p:nvSpPr>
        <p:spPr>
          <a:xfrm>
            <a:off x="4315968" y="4553712"/>
            <a:ext cx="73700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</a:t>
            </a:r>
            <a:pPr indent="0" marL="0">
              <a:buNone/>
            </a:pPr>
            <a:r>
              <a:rPr lang="en-US" sz="900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Long-doc 场景下 vision token 压缩比设计(Conv3D + EVS)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4297680" y="4901184"/>
            <a:ext cx="7406640" cy="0"/>
          </a:xfrm>
          <a:prstGeom prst="line">
            <a:avLst/>
          </a:prstGeom>
          <a:noFill/>
          <a:ln w="6350">
            <a:solidFill>
              <a:srgbClr val="BFBFBF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315968" y="4937760"/>
            <a:ext cx="73700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交付  </a:t>
            </a:r>
            <a:pPr indent="0" marL="0">
              <a:buNone/>
            </a:pPr>
            <a:r>
              <a:rPr lang="en-US" sz="900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T-4 周前:tokenizer 决策落地 + 内部规范文档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4315968" y="5157216"/>
            <a:ext cx="73700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D7D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依赖  </a:t>
            </a:r>
            <a:pPr indent="0" marL="0">
              <a:buNone/>
            </a:pPr>
            <a:r>
              <a:rPr lang="en-US" sz="900" i="1" dirty="0">
                <a:solidFill>
                  <a:srgbClr val="5959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强依赖预训练 team(每 2 周对齐一次)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365760" y="5669280"/>
            <a:ext cx="11430000" cy="914400"/>
          </a:xfrm>
          <a:prstGeom prst="rect">
            <a:avLst/>
          </a:prstGeom>
          <a:solidFill>
            <a:srgbClr val="FFFFFF"/>
          </a:solidFill>
          <a:ln w="19050">
            <a:solidFill>
              <a:srgbClr val="C00000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457200" y="5742432"/>
            <a:ext cx="11247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❶ 关键稀缺资源: </a:t>
            </a:r>
            <a:pPr indent="0" marL="0">
              <a:buNone/>
            </a:pPr>
            <a:r>
              <a:rPr lang="en-US" sz="1000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MMC4 / OBELICS 类交错图文是 </a:t>
            </a:r>
            <a:pPr indent="0" marL="0">
              <a:buNone/>
            </a:pPr>
            <a:r>
              <a:rPr lang="en-US" sz="1000" b="1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Stage 1/4 的成败关键,</a:t>
            </a:r>
            <a:pPr indent="0" marL="0">
              <a:buNone/>
            </a:pPr>
            <a:r>
              <a:rPr lang="en-US" sz="1000" b="1" dirty="0">
                <a:solidFill>
                  <a:srgbClr val="ED7D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必须在 T-12 立项谈判,迟则 T 后无米下锅</a:t>
            </a:r>
            <a:pPr indent="0" marL="0">
              <a:buNone/>
            </a:pPr>
            <a:endParaRPr lang="en-US" sz="1100" dirty="0"/>
          </a:p>
        </p:txBody>
      </p:sp>
      <p:sp>
        <p:nvSpPr>
          <p:cNvPr id="61" name="Text 59"/>
          <p:cNvSpPr/>
          <p:nvPr/>
        </p:nvSpPr>
        <p:spPr>
          <a:xfrm>
            <a:off x="457200" y="6016752"/>
            <a:ext cx="11247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❷ Tokenizer 决策窗口: </a:t>
            </a:r>
            <a:pPr indent="0" marL="0">
              <a:buNone/>
            </a:pPr>
            <a:r>
              <a:rPr lang="en-US" sz="1000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若预训练 team 没预留 </a:t>
            </a:r>
            <a:pPr indent="0" marL="0">
              <a:buNone/>
            </a:pPr>
            <a:r>
              <a:rPr lang="en-US" sz="1000" b="1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&lt;image&gt;/&lt;audio&gt; special tokens,</a:t>
            </a:r>
            <a:pPr indent="0" marL="0">
              <a:buNone/>
            </a:pPr>
            <a:r>
              <a:rPr lang="en-US" sz="1000" b="1" dirty="0">
                <a:solidFill>
                  <a:srgbClr val="ED7D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扩词表会让前 1-2 epoch 训不稳,</a:t>
            </a:r>
            <a:pPr indent="0" marL="0">
              <a:buNone/>
            </a:pPr>
            <a:r>
              <a:rPr lang="en-US" sz="900" i="1" dirty="0">
                <a:solidFill>
                  <a:srgbClr val="5959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T-12 必须确认</a:t>
            </a:r>
            <a:endParaRPr lang="en-US" sz="1100" dirty="0"/>
          </a:p>
        </p:txBody>
      </p:sp>
      <p:sp>
        <p:nvSpPr>
          <p:cNvPr id="62" name="Text 60"/>
          <p:cNvSpPr/>
          <p:nvPr/>
        </p:nvSpPr>
        <p:spPr>
          <a:xfrm>
            <a:off x="457200" y="6291072"/>
            <a:ext cx="11247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❸ Proxy base 方法: </a:t>
            </a:r>
            <a:pPr indent="0" marL="0">
              <a:buNone/>
            </a:pPr>
            <a:r>
              <a:rPr lang="en-US" sz="1000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Encoder/Projector 用 </a:t>
            </a:r>
            <a:pPr indent="0" marL="0">
              <a:buNone/>
            </a:pPr>
            <a:r>
              <a:rPr lang="en-US" sz="1000" b="1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Qwen2.5-VL 或 LLaVA-OneVision 做 dry run,</a:t>
            </a:r>
            <a:pPr indent="0" marL="0">
              <a:buNone/>
            </a:pPr>
            <a:r>
              <a:rPr lang="en-US" sz="1000" b="1" dirty="0">
                <a:solidFill>
                  <a:srgbClr val="ED7D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ckpt 到达后只换骨干不重训 encoder</a:t>
            </a:r>
            <a:pPr indent="0" marL="0">
              <a:buNone/>
            </a:pPr>
            <a:endParaRPr lang="en-US" sz="1100" dirty="0"/>
          </a:p>
        </p:txBody>
      </p:sp>
      <p:sp>
        <p:nvSpPr>
          <p:cNvPr id="63" name="Text 61"/>
          <p:cNvSpPr/>
          <p:nvPr/>
        </p:nvSpPr>
        <p:spPr>
          <a:xfrm>
            <a:off x="365760" y="6638544"/>
            <a:ext cx="11430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5959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Source: </a:t>
            </a:r>
            <a:pPr indent="0" marL="0">
              <a:buNone/>
            </a:pPr>
            <a:r>
              <a:rPr lang="en-US" sz="800" i="1" u="sng" dirty="0">
                <a:solidFill>
                  <a:srgbClr val="C00000"/>
                </a:solidFill>
                <a:uFill>
                  <a:solidFill>
                    <a:srgbClr val="C00000"/>
                  </a:solidFill>
                </a:u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Nemotron Stage 0/1 数据</a:t>
            </a:r>
            <a:pPr indent="0" marL="0">
              <a:buNone/>
            </a:pPr>
            <a:r>
              <a:rPr lang="en-US" sz="800" i="1" dirty="0">
                <a:solidFill>
                  <a:srgbClr val="5959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(NVIDIA 2026.04) | </a:t>
            </a:r>
            <a:pPr indent="0" marL="0">
              <a:buNone/>
            </a:pPr>
            <a:r>
              <a:rPr lang="en-US" sz="800" i="1" u="sng" dirty="0">
                <a:solidFill>
                  <a:srgbClr val="C00000"/>
                </a:solidFill>
                <a:uFill>
                  <a:solidFill>
                    <a:srgbClr val="C00000"/>
                  </a:solidFill>
                </a:u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VLMEvalKit</a:t>
            </a:r>
            <a:pPr indent="0" marL="0">
              <a:buNone/>
            </a:pPr>
            <a:r>
              <a:rPr lang="en-US" sz="800" i="1" dirty="0">
                <a:solidFill>
                  <a:srgbClr val="5959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(开源评测框架) | </a:t>
            </a:r>
            <a:pPr indent="0" marL="0">
              <a:buNone/>
            </a:pPr>
            <a:r>
              <a:rPr lang="en-US" sz="800" i="1" u="sng" dirty="0">
                <a:solidFill>
                  <a:srgbClr val="C00000"/>
                </a:solidFill>
                <a:uFill>
                  <a:solidFill>
                    <a:srgbClr val="C00000"/>
                  </a:solidFill>
                </a:u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内部 owner / 时间估算</a:t>
            </a:r>
            <a:pPr indent="0" marL="0">
              <a:buNone/>
            </a:pP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11430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Nemotron-Lite SFT</a:t>
            </a:r>
            <a:pPr indent="0" marL="0">
              <a:buNone/>
            </a:pPr>
            <a:r>
              <a:rPr lang="en-US" sz="2400" b="1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: </a:t>
            </a:r>
            <a:pPr indent="0" marL="0">
              <a:buNone/>
            </a:pPr>
            <a:r>
              <a:rPr lang="en-US" sz="2200" b="1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 段渐进 SFT,跳过 Stage 6 256K(理解场景成本不划算)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365760" y="658368"/>
            <a:ext cx="11430000" cy="0"/>
          </a:xfrm>
          <a:prstGeom prst="line">
            <a:avLst/>
          </a:prstGeom>
          <a:noFill/>
          <a:ln w="19050">
            <a:solidFill>
              <a:srgbClr val="C000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777240"/>
            <a:ext cx="11430000" cy="777240"/>
          </a:xfrm>
          <a:prstGeom prst="rect">
            <a:avLst/>
          </a:prstGeom>
          <a:solidFill>
            <a:srgbClr val="F2F2F2"/>
          </a:solidFill>
          <a:ln w="6350">
            <a:solidFill>
              <a:srgbClr val="1F386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86868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Nemotron-Lite = </a:t>
            </a:r>
            <a:pPr indent="0" marL="0">
              <a:buNone/>
            </a:pPr>
            <a:r>
              <a:rPr lang="en-US" sz="1200" b="1" dirty="0">
                <a:solidFill>
                  <a:srgbClr val="00B0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Stage 0</a:t>
            </a:r>
            <a:pPr indent="0" marL="0">
              <a:buNone/>
            </a:pPr>
            <a:r>
              <a:rPr lang="en-US" sz="1100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(V-Proj)→ </a:t>
            </a:r>
            <a:pPr indent="0" marL="0">
              <a:buNone/>
            </a:pPr>
            <a:r>
              <a:rPr lang="en-US" sz="1200" b="1" dirty="0">
                <a:solidFill>
                  <a:srgbClr val="ED7D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Stage 1</a:t>
            </a:r>
            <a:pPr indent="0" marL="0">
              <a:buNone/>
            </a:pPr>
            <a:r>
              <a:rPr lang="en-US" sz="1100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(Vision SFT)→ </a:t>
            </a:r>
            <a:pPr indent="0" marL="0">
              <a:buNone/>
            </a:pPr>
            <a:r>
              <a:rPr lang="en-US" sz="1200" b="1" dirty="0">
                <a:solidFill>
                  <a:srgbClr val="7030A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Stage 2/3</a:t>
            </a:r>
            <a:pPr indent="0" marL="0">
              <a:buNone/>
            </a:pPr>
            <a:r>
              <a:rPr lang="en-US" sz="1100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(Audio)→ </a:t>
            </a:r>
            <a:pPr indent="0" marL="0">
              <a:buNone/>
            </a:pPr>
            <a:r>
              <a:rPr lang="en-US" sz="1200" b="1" dirty="0">
                <a:solidFill>
                  <a:srgbClr val="ED7D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Stage 4</a:t>
            </a:r>
            <a:pPr indent="0" marL="0">
              <a:buNone/>
            </a:pPr>
            <a:r>
              <a:rPr lang="en-US" sz="1100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(Omni SFT)→ </a:t>
            </a:r>
            <a:pPr indent="0" marL="0">
              <a:buNone/>
            </a:pPr>
            <a:r>
              <a:rPr lang="en-US" sz="1200" b="1" dirty="0">
                <a:solidFill>
                  <a:srgbClr val="ED7D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Stage 5</a:t>
            </a:r>
            <a:pPr indent="0" marL="0">
              <a:buNone/>
            </a:pPr>
            <a:r>
              <a:rPr lang="en-US" sz="1100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(48K 长上下文)</a:t>
            </a:r>
            <a:pPr indent="0" marL="0">
              <a:buNone/>
            </a:pPr>
            <a:r>
              <a:rPr lang="en-US" sz="1400" b="1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⊘ </a:t>
            </a:r>
            <a:pPr indent="0" marL="0">
              <a:buNone/>
            </a:pPr>
            <a:r>
              <a:rPr lang="en-US" sz="1100" b="1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跳过 Stage 6 256K</a:t>
            </a:r>
            <a:endParaRPr lang="en-US" sz="12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783080"/>
          <a:ext cx="11430000" cy="2926080"/>
        </p:xfrm>
        <a:graphic>
          <a:graphicData uri="http://schemas.openxmlformats.org/drawingml/2006/table">
            <a:tbl>
              <a:tblPr/>
              <a:tblGrid>
                <a:gridCol w="1554480"/>
                <a:gridCol w="1097280"/>
                <a:gridCol w="1645920"/>
                <a:gridCol w="1828800"/>
                <a:gridCol w="3017520"/>
                <a:gridCol w="2286000"/>
              </a:tblGrid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阶段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Context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Token 预算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可训练范围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数据组合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内部预估周数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2F3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00B0F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Stage 0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00B0F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Vision Proj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16K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起步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D7D3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~10B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目标 5-15B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0B0F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仅 V-Proj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LLM/ViT 全冻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LLaVA-Pretrain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ShareGPT4V / DenseFusion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70AD4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0.5-1 周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~32 H100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ED7D3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Stage 1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ED7D3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Vision SFT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16K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保持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D7D3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~150B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Nemotron 是 215B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D7D3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LLM + ViT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Audio 仍冻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LLaVA-OneVision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Cambrian + Cauldron + 自家 CoT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D7D3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 周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~64 H100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7030A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Stage 2/3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7030A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Audio Enc+Proj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16K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保持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D7D3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~50B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S2:5B + S3:45B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7030A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Audio 全栈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LLM 冻 / V 冻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Granary + AudioCaps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WavCaps + Common Voice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70AD4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 周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~32 H100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ED7D3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Stage 4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ED7D3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Omni SFT 16K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16K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联合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D7D3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~50B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vision/audio/text 混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C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全参数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解冻所有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V+A+Text 5:3:2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+ 短视频 + 安全数据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D7D3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 周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~64 H100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ED7D3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Stage 5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ED7D3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Omni SFT 48K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D7D3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48K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扩 3×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D7D3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~25B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重 video + 长文档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D7D3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除 Audio 外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Audio 冻防漂移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中长视频 + 文档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多页 OCR + LongVideoBench 分布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D7D3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 周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~64 H100 + CP=2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C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⊘ Stage 6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C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256K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C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跳过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理解非必要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70AD4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省 ~30B token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—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—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—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如有刚需可补 1 周轻量段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70AD4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—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省 4 周 + 64 节点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365760" y="4892040"/>
            <a:ext cx="11430000" cy="594360"/>
          </a:xfrm>
          <a:prstGeom prst="rect">
            <a:avLst/>
          </a:prstGeom>
          <a:solidFill>
            <a:srgbClr val="FFF2CC"/>
          </a:solidFill>
          <a:ln w="9525">
            <a:solidFill>
              <a:srgbClr val="ED7D3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57200" y="4983480"/>
            <a:ext cx="11247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总预算: </a:t>
            </a:r>
            <a:pPr indent="0" marL="0">
              <a:buNone/>
            </a:pPr>
            <a:r>
              <a:rPr lang="en-US" sz="1300" b="1" dirty="0">
                <a:solidFill>
                  <a:srgbClr val="ED7D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~285B token  </a:t>
            </a:r>
            <a:pPr indent="0" marL="0">
              <a:buNone/>
            </a:pPr>
            <a:r>
              <a:rPr lang="en-US" sz="1100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(vs Nemotron 466.9B,省 ~40%)</a:t>
            </a:r>
            <a:pPr indent="0" marL="0">
              <a:buNone/>
            </a:pPr>
            <a:r>
              <a:rPr lang="en-US" sz="1200" b="1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 总周期: </a:t>
            </a:r>
            <a:pPr indent="0" marL="0">
              <a:buNone/>
            </a:pPr>
            <a:r>
              <a:rPr lang="en-US" sz="1300" b="1" dirty="0">
                <a:solidFill>
                  <a:srgbClr val="ED7D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~14.5 周  </a:t>
            </a:r>
            <a:pPr indent="0" marL="0">
              <a:buNone/>
            </a:pPr>
            <a:r>
              <a:rPr lang="en-US" sz="1100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(vs Nemotron 全栈,省 4 周)</a:t>
            </a:r>
            <a:pPr indent="0" marL="0">
              <a:buNone/>
            </a:pPr>
            <a:r>
              <a:rPr lang="en-US" sz="1200" b="1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 OPD trick: </a:t>
            </a:r>
            <a:pPr indent="0" marL="0">
              <a:buNone/>
            </a:pPr>
            <a:r>
              <a:rPr lang="en-US" sz="1100" b="1" dirty="0">
                <a:solidFill>
                  <a:srgbClr val="ED7D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Stage 4 起加 audio-text 配对蒸馏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365760" y="5669280"/>
            <a:ext cx="11430000" cy="914400"/>
          </a:xfrm>
          <a:prstGeom prst="rect">
            <a:avLst/>
          </a:prstGeom>
          <a:solidFill>
            <a:srgbClr val="FFFFFF"/>
          </a:solidFill>
          <a:ln w="19050">
            <a:solidFill>
              <a:srgbClr val="C0000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57200" y="5742432"/>
            <a:ext cx="11247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❶ 跳 Stage 6 = 省 30%: </a:t>
            </a:r>
            <a:pPr indent="0" marL="0">
              <a:buNone/>
            </a:pPr>
            <a:r>
              <a:rPr lang="en-US" sz="1000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256K 长上下文成本在 </a:t>
            </a:r>
            <a:pPr indent="0" marL="0">
              <a:buNone/>
            </a:pPr>
            <a:r>
              <a:rPr lang="en-US" sz="1000" b="1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层级,理解场景非刚需,</a:t>
            </a:r>
            <a:pPr indent="0" marL="0">
              <a:buNone/>
            </a:pPr>
            <a:r>
              <a:rPr lang="en-US" sz="1000" b="1" dirty="0">
                <a:solidFill>
                  <a:srgbClr val="ED7D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compute × 2 </a:t>
            </a:r>
            <a:pPr indent="0" marL="0">
              <a:buNone/>
            </a:pPr>
            <a:r>
              <a:rPr lang="en-US" sz="900" i="1" dirty="0">
                <a:solidFill>
                  <a:srgbClr val="5959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如客户必须可后补 1 周轻量段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457200" y="6016752"/>
            <a:ext cx="11247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❷ Audio 不解冻 = Stage 5 安全: </a:t>
            </a:r>
            <a:pPr indent="0" marL="0">
              <a:buNone/>
            </a:pPr>
            <a:r>
              <a:rPr lang="en-US" sz="1000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Stage 5 长上下文训练时冻结 audio 防漂移,这是 </a:t>
            </a:r>
            <a:pPr indent="0" marL="0">
              <a:buNone/>
            </a:pPr>
            <a:r>
              <a:rPr lang="en-US" sz="1000" b="1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Nemotron 已验证的稳定配置</a:t>
            </a:r>
            <a:pPr indent="0" marL="0">
              <a:buNone/>
            </a:pPr>
            <a:pPr indent="0" marL="0">
              <a:buNone/>
            </a:pP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457200" y="6291072"/>
            <a:ext cx="11247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❸ OPD 即插即用: </a:t>
            </a:r>
            <a:pPr indent="0" marL="0">
              <a:buNone/>
            </a:pPr>
            <a:r>
              <a:rPr lang="en-US" sz="1000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Stage 4 起每个 omni batch 加 </a:t>
            </a:r>
            <a:pPr indent="0" marL="0">
              <a:buNone/>
            </a:pPr>
            <a:r>
              <a:rPr lang="en-US" sz="1000" b="1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20% audio-text 配对样本,</a:t>
            </a:r>
            <a:pPr indent="0" marL="0">
              <a:buNone/>
            </a:pPr>
            <a:r>
              <a:rPr lang="en-US" sz="1000" b="1" dirty="0">
                <a:solidFill>
                  <a:srgbClr val="ED7D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用文本回答监督音频回答,提速文本对齐</a:t>
            </a:r>
            <a:pPr indent="0" marL="0">
              <a:buNone/>
            </a:pP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365760" y="6638544"/>
            <a:ext cx="11430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5959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Source: </a:t>
            </a:r>
            <a:pPr indent="0" marL="0">
              <a:buNone/>
            </a:pPr>
            <a:r>
              <a:rPr lang="en-US" sz="800" i="1" u="sng" dirty="0">
                <a:solidFill>
                  <a:srgbClr val="C00000"/>
                </a:solidFill>
                <a:uFill>
                  <a:solidFill>
                    <a:srgbClr val="C00000"/>
                  </a:solidFill>
                </a:u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Nemotron 3 Nano Omni 7 阶段配方</a:t>
            </a:r>
            <a:pPr indent="0" marL="0">
              <a:buNone/>
            </a:pPr>
            <a:r>
              <a:rPr lang="en-US" sz="800" i="1" dirty="0">
                <a:solidFill>
                  <a:srgbClr val="5959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(arxiv 2604.24954) | </a:t>
            </a:r>
            <a:pPr indent="0" marL="0">
              <a:buNone/>
            </a:pPr>
            <a:r>
              <a:rPr lang="en-US" sz="800" i="1" u="sng" dirty="0">
                <a:solidFill>
                  <a:srgbClr val="C00000"/>
                </a:solidFill>
                <a:uFill>
                  <a:solidFill>
                    <a:srgbClr val="C00000"/>
                  </a:solidFill>
                </a:u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Qwen3.5 OPD 蒸馏 trick</a:t>
            </a:r>
            <a:pPr indent="0" marL="0">
              <a:buNone/>
            </a:pPr>
            <a:r>
              <a:rPr lang="en-US" sz="800" i="1" dirty="0">
                <a:solidFill>
                  <a:srgbClr val="5959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(arxiv 2604.15804) | </a:t>
            </a:r>
            <a:pPr indent="0" marL="0">
              <a:buNone/>
            </a:pPr>
            <a:r>
              <a:rPr lang="en-US" sz="800" i="1" u="sng" dirty="0">
                <a:solidFill>
                  <a:srgbClr val="C00000"/>
                </a:solidFill>
                <a:uFill>
                  <a:solidFill>
                    <a:srgbClr val="C00000"/>
                  </a:solidFill>
                </a:u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内部预算估算</a:t>
            </a:r>
            <a:pPr indent="0" marL="0">
              <a:buNone/>
            </a:pPr>
            <a:r>
              <a:rPr lang="en-US" sz="800" i="1" dirty="0">
                <a:solidFill>
                  <a:srgbClr val="5959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(单 token cost × token 量 × 节点数)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11430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数据规模 + 来源</a:t>
            </a:r>
            <a:pPr indent="0" marL="0">
              <a:buNone/>
            </a:pPr>
            <a:r>
              <a:rPr lang="en-US" sz="2400" b="1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: </a:t>
            </a:r>
            <a:pPr indent="0" marL="0">
              <a:buNone/>
            </a:pPr>
            <a:r>
              <a:rPr lang="en-US" sz="2200" b="1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~285B token 目标,vision 50% / audio 18% / video 17% / text 15%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365760" y="658368"/>
            <a:ext cx="11430000" cy="0"/>
          </a:xfrm>
          <a:prstGeom prst="line">
            <a:avLst/>
          </a:prstGeom>
          <a:noFill/>
          <a:ln w="19050">
            <a:solidFill>
              <a:srgbClr val="C00000"/>
            </a:solidFill>
            <a:prstDash val="solid"/>
          </a:ln>
        </p:spPr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777240"/>
          <a:ext cx="11430000" cy="4663440"/>
        </p:xfrm>
        <a:graphic>
          <a:graphicData uri="http://schemas.openxmlformats.org/drawingml/2006/table">
            <a:tbl>
              <a:tblPr/>
              <a:tblGrid>
                <a:gridCol w="1371600"/>
                <a:gridCol w="2834640"/>
                <a:gridCol w="1417320"/>
                <a:gridCol w="1417320"/>
                <a:gridCol w="1783080"/>
                <a:gridCol w="260604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模态 / 阶段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主用数据集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规模(样本)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规模(token)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状态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Owner / 风险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2F3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00B0F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Vision Pretrain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00B0F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(Stage 0)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LLaVA-Pretrain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+ ShareGPT4V + DenseFusion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~5M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图文对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D7D3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~10B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短文 caption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70AD4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✓ 全开源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T-12 起下载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70AD4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Data team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无风险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00B0F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Vision SFT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00B0F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(Stage 1)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LLaVA-OneVision-Data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+ Cambrian-7M + Cauldron + ALLaVA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D7D3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~30-50M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复合指令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D7D3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~150B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Nemotron 是 215B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70AD4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✓ 全开源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+ 自建 CoT 数据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D7D3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Data + Research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CoT 数据需自合成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7030A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Audio Pretrain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7030A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(Stage 2)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Granary v1.1 ASR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(NVIDIA 已开源)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~10M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音频对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D7D3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~5B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短样本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70AD4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✓ 公开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HF 直接拉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70AD4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Data team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无风险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7030A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Audio SFT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7030A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(Stage 3)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AudioCaps + Clotho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+ WavCaps + Common Voice + AudioSet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D7D3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~30M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音频任务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D7D3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~45B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ASR + AQA + Music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70AD4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✓ 公开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AudioSet 仅 label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D7D3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Data team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音频自原始数据复杂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ED7D3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Omni 混合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ED7D3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(Stage 4)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V+A+T 混采样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+ ShareGPT4Video + LLaVA-Video + 安全数据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D7D3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~10M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混合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D7D3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~50B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5:3:2 比例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D7D3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⚠ 自建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比例需调优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C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Research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OPD 配对样本需新合成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ED7D3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中长视频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ED7D3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(Stage 5)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LLaVA-Video-178K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+ EgoSchema + LongVideoBench 分布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D7D3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~2M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中长视频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D7D3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~25B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含视频推理 CoT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D7D3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⚠ 部分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需采样长尾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C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Data + Research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长视频标注稀缺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C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Text 保留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C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(全程)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自家文本 SFT 数据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(由预训练 team 提供同分布)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—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按比例采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D7D3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~40B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防漂移采样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C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✗ 待对齐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需预训练 team 给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C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Cross-team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强依赖,T-12 立项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C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偏好(RL)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RLHF-V + VLFeedback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+ POVID + 自标 ScreenSpot 偏好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D7D3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~200K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偏好对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D7D3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~5B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RL 数据短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D7D3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✓ 公开+自建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ScreenSpot 偏好需自标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D7D3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Eval team + 标注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标注成本中等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365760" y="5669280"/>
            <a:ext cx="11430000" cy="914400"/>
          </a:xfrm>
          <a:prstGeom prst="rect">
            <a:avLst/>
          </a:prstGeom>
          <a:solidFill>
            <a:srgbClr val="FFFFFF"/>
          </a:solidFill>
          <a:ln w="19050">
            <a:solidFill>
              <a:srgbClr val="C00000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457200" y="5742432"/>
            <a:ext cx="11247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❶ 80% 数据已就位: </a:t>
            </a:r>
            <a:pPr indent="0" marL="0">
              <a:buNone/>
            </a:pPr>
            <a:r>
              <a:rPr lang="en-US" sz="1000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Vision / Audio / Video 主体均开源(LLaVA-OV + Granary + LLaVA-Video),</a:t>
            </a:r>
            <a:pPr indent="0" marL="0">
              <a:buNone/>
            </a:pPr>
            <a:r>
              <a:rPr lang="en-US" sz="1000" b="1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T-12 起下载 + 预处理可在 6 周内完成</a:t>
            </a:r>
            <a:pPr indent="0" marL="0">
              <a:buNone/>
            </a:pPr>
            <a:pPr indent="0" marL="0">
              <a:buNone/>
            </a:pP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457200" y="6016752"/>
            <a:ext cx="11247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❷ Text 同分布是死结: </a:t>
            </a:r>
            <a:pPr indent="0" marL="0">
              <a:buNone/>
            </a:pPr>
            <a:r>
              <a:rPr lang="en-US" sz="1000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防漂移的 </a:t>
            </a:r>
            <a:pPr indent="0" marL="0">
              <a:buNone/>
            </a:pPr>
            <a:r>
              <a:rPr lang="en-US" sz="1000" b="1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必须由预训练 team 提供同分布样本,</a:t>
            </a:r>
            <a:pPr indent="0" marL="0">
              <a:buNone/>
            </a:pPr>
            <a:r>
              <a:rPr lang="en-US" sz="1000" b="1" dirty="0">
                <a:solidFill>
                  <a:srgbClr val="ED7D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~40B Text 数据 </a:t>
            </a:r>
            <a:pPr indent="0" marL="0">
              <a:buNone/>
            </a:pPr>
            <a:r>
              <a:rPr lang="en-US" sz="900" i="1" dirty="0">
                <a:solidFill>
                  <a:srgbClr val="5959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T-12 必须达成内部 SLA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291072"/>
            <a:ext cx="11247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❸ OPD 配对要自合成: </a:t>
            </a:r>
            <a:pPr indent="0" marL="0">
              <a:buNone/>
            </a:pPr>
            <a:r>
              <a:rPr lang="en-US" sz="1000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Stage 4 起的 audio-text 配对样本需 </a:t>
            </a:r>
            <a:pPr indent="0" marL="0">
              <a:buNone/>
            </a:pPr>
            <a:r>
              <a:rPr lang="en-US" sz="1000" b="1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 ASR + GPT-4 生成,</a:t>
            </a:r>
            <a:pPr indent="0" marL="0">
              <a:buNone/>
            </a:pPr>
            <a:r>
              <a:rPr lang="en-US" sz="1000" b="1" dirty="0">
                <a:solidFill>
                  <a:srgbClr val="ED7D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工作量 ~2 人 4 周,T-8 立项</a:t>
            </a:r>
            <a:pPr indent="0" marL="0">
              <a:buNone/>
            </a:pP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365760" y="6638544"/>
            <a:ext cx="11430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5959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Source: </a:t>
            </a:r>
            <a:pPr indent="0" marL="0">
              <a:buNone/>
            </a:pPr>
            <a:r>
              <a:rPr lang="en-US" sz="800" i="1" u="sng" dirty="0">
                <a:solidFill>
                  <a:srgbClr val="C00000"/>
                </a:solidFill>
                <a:uFill>
                  <a:solidFill>
                    <a:srgbClr val="C00000"/>
                  </a:solidFill>
                </a:u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Nemotron Stage 0-5 数据明细</a:t>
            </a:r>
            <a:pPr indent="0" marL="0">
              <a:buNone/>
            </a:pPr>
            <a:r>
              <a:rPr lang="en-US" sz="800" i="1" dirty="0">
                <a:solidFill>
                  <a:srgbClr val="5959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(内部对应 Lite 版) | </a:t>
            </a:r>
            <a:pPr indent="0" marL="0">
              <a:buNone/>
            </a:pPr>
            <a:r>
              <a:rPr lang="en-US" sz="800" i="1" u="sng" dirty="0">
                <a:solidFill>
                  <a:srgbClr val="C00000"/>
                </a:solidFill>
                <a:uFill>
                  <a:solidFill>
                    <a:srgbClr val="C00000"/>
                  </a:solidFill>
                </a:u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LLaVA-OneVision / Cambrian / Granary</a:t>
            </a:r>
            <a:pPr indent="0" marL="0">
              <a:buNone/>
            </a:pPr>
            <a:r>
              <a:rPr lang="en-US" sz="800" i="1" dirty="0">
                <a:solidFill>
                  <a:srgbClr val="5959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(HuggingFace) | </a:t>
            </a:r>
            <a:pPr indent="0" marL="0">
              <a:buNone/>
            </a:pPr>
            <a:r>
              <a:rPr lang="en-US" sz="800" i="1" u="sng" dirty="0">
                <a:solidFill>
                  <a:srgbClr val="C00000"/>
                </a:solidFill>
                <a:uFill>
                  <a:solidFill>
                    <a:srgbClr val="C00000"/>
                  </a:solidFill>
                </a:u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OPD 配对方案</a:t>
            </a:r>
            <a:pPr indent="0" marL="0">
              <a:buNone/>
            </a:pPr>
            <a:r>
              <a:rPr lang="en-US" sz="800" i="1" dirty="0">
                <a:solidFill>
                  <a:srgbClr val="5959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(Qwen3.5-Omni 论文复刻)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11430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RL stack 简化</a:t>
            </a:r>
            <a:pPr indent="0" marL="0">
              <a:buNone/>
            </a:pPr>
            <a:r>
              <a:rPr lang="en-US" sz="2400" b="1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: </a:t>
            </a:r>
            <a:pPr indent="0" marL="0">
              <a:buNone/>
            </a:pPr>
            <a:r>
              <a:rPr lang="en-US" sz="2200" b="1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GSPO 3 段(MPO+Image-RL+Text-RL S2),跳过 Audio-RL 与 Omni-RL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365760" y="658368"/>
            <a:ext cx="11430000" cy="0"/>
          </a:xfrm>
          <a:prstGeom prst="line">
            <a:avLst/>
          </a:prstGeom>
          <a:noFill/>
          <a:ln w="19050">
            <a:solidFill>
              <a:srgbClr val="C000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777240"/>
            <a:ext cx="2926080" cy="4617720"/>
          </a:xfrm>
          <a:prstGeom prst="rect">
            <a:avLst/>
          </a:prstGeom>
          <a:solidFill>
            <a:srgbClr val="F2F2F2"/>
          </a:solidFill>
          <a:ln w="6350">
            <a:solidFill>
              <a:srgbClr val="BFBFB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8229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 段 RL 流(简化版)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1088136"/>
            <a:ext cx="2743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959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(对照 Nemotron 5 段 → 跳 Text-RL S1 + Omni-RL)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02920" y="1645920"/>
            <a:ext cx="457200" cy="457200"/>
          </a:xfrm>
          <a:prstGeom prst="ellipse">
            <a:avLst/>
          </a:prstGeom>
          <a:solidFill>
            <a:srgbClr val="ED7D31"/>
          </a:solidFill>
          <a:ln w="12700">
            <a:solidFill>
              <a:srgbClr val="ED7D3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6459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051560" y="1417320"/>
            <a:ext cx="21488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D7D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MPO 偏好优化</a:t>
            </a:r>
            <a:endParaRPr lang="en-US" sz="1200" dirty="0"/>
          </a:p>
          <a:p>
            <a:pPr indent="0" marL="0">
              <a:buNone/>
            </a:pPr>
            <a:r>
              <a:rPr lang="en-US" sz="950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DPO + BCO 混合</a:t>
            </a:r>
            <a:endParaRPr lang="en-US" sz="1200" dirty="0"/>
          </a:p>
          <a:p>
            <a:pPr indent="0" marL="0">
              <a:buNone/>
            </a:pPr>
            <a:r>
              <a:rPr lang="en-US" sz="950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~150K 偏好对(RLHF-V + VLFeedback)</a:t>
            </a:r>
            <a:endParaRPr lang="en-US" sz="1200" dirty="0"/>
          </a:p>
          <a:p>
            <a:pPr indent="0" marL="0">
              <a:buNone/>
            </a:pPr>
            <a:r>
              <a:rPr lang="en-US" sz="950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 周 / 32 H100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31520" y="2651760"/>
            <a:ext cx="0" cy="91440"/>
          </a:xfrm>
          <a:prstGeom prst="line">
            <a:avLst/>
          </a:prstGeom>
          <a:noFill/>
          <a:ln w="19050">
            <a:solidFill>
              <a:srgbClr val="C0000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02920" y="3017520"/>
            <a:ext cx="457200" cy="457200"/>
          </a:xfrm>
          <a:prstGeom prst="ellipse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30175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051560" y="2788920"/>
            <a:ext cx="21488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Image-RL</a:t>
            </a:r>
            <a:endParaRPr lang="en-US" sz="1200" dirty="0"/>
          </a:p>
          <a:p>
            <a:pPr indent="0" marL="0">
              <a:buNone/>
            </a:pPr>
            <a:r>
              <a:rPr lang="en-US" sz="950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GSPO + outcome-based reward</a:t>
            </a:r>
            <a:endParaRPr lang="en-US" sz="1200" dirty="0"/>
          </a:p>
          <a:p>
            <a:pPr indent="0" marL="0">
              <a:buNone/>
            </a:pPr>
            <a:r>
              <a:rPr lang="en-US" sz="950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~50K 视觉推理任务</a:t>
            </a:r>
            <a:endParaRPr lang="en-US" sz="1200" dirty="0"/>
          </a:p>
          <a:p>
            <a:pPr indent="0" marL="0">
              <a:buNone/>
            </a:pPr>
            <a:r>
              <a:rPr lang="en-US" sz="950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verifier: string-match / mathruler / GUI</a:t>
            </a:r>
            <a:endParaRPr lang="en-US" sz="1200" dirty="0"/>
          </a:p>
          <a:p>
            <a:pPr indent="0" marL="0">
              <a:buNone/>
            </a:pPr>
            <a:r>
              <a:rPr lang="en-US" sz="950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 周 / B200 cluster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31520" y="4023360"/>
            <a:ext cx="0" cy="91440"/>
          </a:xfrm>
          <a:prstGeom prst="line">
            <a:avLst/>
          </a:prstGeom>
          <a:noFill/>
          <a:ln w="19050">
            <a:solidFill>
              <a:srgbClr val="C0000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02920" y="4389120"/>
            <a:ext cx="457200" cy="457200"/>
          </a:xfrm>
          <a:prstGeom prst="ellipse">
            <a:avLst/>
          </a:prstGeom>
          <a:solidFill>
            <a:srgbClr val="7030A0"/>
          </a:solidFill>
          <a:ln w="12700">
            <a:solidFill>
              <a:srgbClr val="7030A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43891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051560" y="4160520"/>
            <a:ext cx="21488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030A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Text-RL Stage 2</a:t>
            </a:r>
            <a:endParaRPr lang="en-US" sz="1200" dirty="0"/>
          </a:p>
          <a:p>
            <a:pPr indent="0" marL="0">
              <a:buNone/>
            </a:pPr>
            <a:r>
              <a:rPr lang="en-US" sz="950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修文本回归(必跑)</a:t>
            </a:r>
            <a:endParaRPr lang="en-US" sz="1200" dirty="0"/>
          </a:p>
          <a:p>
            <a:pPr indent="0" marL="0">
              <a:buNone/>
            </a:pPr>
            <a:r>
              <a:rPr lang="en-US" sz="950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冻 token embedding</a:t>
            </a:r>
            <a:endParaRPr lang="en-US" sz="1200" dirty="0"/>
          </a:p>
          <a:p>
            <a:pPr indent="0" marL="0">
              <a:buNone/>
            </a:pPr>
            <a:r>
              <a:rPr lang="en-US" sz="950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~30K 自家文本任务</a:t>
            </a:r>
            <a:endParaRPr lang="en-US" sz="1200" dirty="0"/>
          </a:p>
          <a:p>
            <a:pPr indent="0" marL="0">
              <a:buNone/>
            </a:pPr>
            <a:r>
              <a:rPr lang="en-US" sz="950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 周 / 32 H100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429000" y="777240"/>
            <a:ext cx="3108960" cy="4617720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429000" y="777240"/>
            <a:ext cx="3108960" cy="384048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520440" y="822960"/>
            <a:ext cx="2926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⊘ 跳过的段(及理由)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520440" y="12801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⊘ Text-RL Stage 1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520440" y="155448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Nemotron S1 是为多环境 RLVR 准备,我方仅做理解,无需多环境支持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3520440" y="2029968"/>
            <a:ext cx="2926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风险: </a:t>
            </a:r>
            <a:pPr indent="0" marL="0">
              <a:buNone/>
            </a:pPr>
            <a:r>
              <a:rPr lang="en-US" sz="900" b="1" dirty="0">
                <a:solidFill>
                  <a:srgbClr val="ED7D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低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3520440" y="2231136"/>
            <a:ext cx="2926080" cy="0"/>
          </a:xfrm>
          <a:prstGeom prst="line">
            <a:avLst/>
          </a:prstGeom>
          <a:noFill/>
          <a:ln w="6350">
            <a:solidFill>
              <a:srgbClr val="BFBFB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520440" y="228600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⊘ Omni-RL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3520440" y="256032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Nemotron 是为 video+audio 联合推理,我方场景以 vision 为主,Image-RL + Audio benchmark 已可覆盖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3520440" y="3035808"/>
            <a:ext cx="2926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风险: </a:t>
            </a:r>
            <a:pPr indent="0" marL="0">
              <a:buNone/>
            </a:pPr>
            <a:r>
              <a:rPr lang="en-US" sz="900" b="1" dirty="0">
                <a:solidFill>
                  <a:srgbClr val="ED7D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中(若 DailyOmni 不达标需补)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3520440" y="3236976"/>
            <a:ext cx="2926080" cy="0"/>
          </a:xfrm>
          <a:prstGeom prst="line">
            <a:avLst/>
          </a:prstGeom>
          <a:noFill/>
          <a:ln w="6350">
            <a:solidFill>
              <a:srgbClr val="BFBFB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520440" y="329184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⊘ Audio-RL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3520440" y="356616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Audio 理解任务多为 ASR / 分类,SFT 已经能逼近上限,RL 边际收益低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3520440" y="4041648"/>
            <a:ext cx="2926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风险: </a:t>
            </a:r>
            <a:pPr indent="0" marL="0">
              <a:buNone/>
            </a:pPr>
            <a:r>
              <a:rPr lang="en-US" sz="900" b="1" dirty="0">
                <a:solidFill>
                  <a:srgbClr val="ED7D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低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3520440" y="4242816"/>
            <a:ext cx="2926080" cy="0"/>
          </a:xfrm>
          <a:prstGeom prst="line">
            <a:avLst/>
          </a:prstGeom>
          <a:noFill/>
          <a:ln w="6350">
            <a:solidFill>
              <a:srgbClr val="BFBFB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520440" y="429768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后置可选项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3520440" y="457200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若 T+18 后 Image-RL 后效果未达 Qwen3-Omni baseline,可补一段 Omni-RL(2-3 周)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3520440" y="5047488"/>
            <a:ext cx="2926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风险: </a:t>
            </a:r>
            <a:pPr indent="0" marL="0">
              <a:buNone/>
            </a:pPr>
            <a:r>
              <a:rPr lang="en-US" sz="900" b="1" dirty="0">
                <a:solidFill>
                  <a:srgbClr val="ED7D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6675120" y="777240"/>
            <a:ext cx="5120640" cy="4617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D7D31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675120" y="777240"/>
            <a:ext cx="5120640" cy="384048"/>
          </a:xfrm>
          <a:prstGeom prst="rect">
            <a:avLst/>
          </a:prstGeom>
          <a:solidFill>
            <a:srgbClr val="ED7D31"/>
          </a:solidFill>
          <a:ln w="12700">
            <a:solidFill>
              <a:srgbClr val="ED7D3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766560" y="822960"/>
            <a:ext cx="4937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⚙ GSPO 关键超参(参考 Nemotron NeMo-RL)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6784848" y="1280160"/>
            <a:ext cx="49011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Algorithm </a:t>
            </a:r>
            <a:pPr indent="0" marL="0">
              <a:buNone/>
            </a:pPr>
            <a:r>
              <a:rPr lang="en-US" sz="950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Group Sequence Policy Optimization (GSPO)  </a:t>
            </a:r>
            <a:pPr indent="0" marL="0">
              <a:buNone/>
            </a:pPr>
            <a:r>
              <a:rPr lang="en-US" sz="900" i="1" dirty="0">
                <a:solidFill>
                  <a:srgbClr val="5959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// 替代 PPO/DPO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6784848" y="1627632"/>
            <a:ext cx="4901184" cy="0"/>
          </a:xfrm>
          <a:prstGeom prst="line">
            <a:avLst/>
          </a:prstGeom>
          <a:noFill/>
          <a:ln w="3175">
            <a:solidFill>
              <a:srgbClr val="BFBFB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784848" y="1664208"/>
            <a:ext cx="49011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Global batch size </a:t>
            </a:r>
            <a:pPr indent="0" marL="0">
              <a:buNone/>
            </a:pPr>
            <a:r>
              <a:rPr lang="en-US" sz="950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4096  </a:t>
            </a:r>
            <a:pPr indent="0" marL="0">
              <a:buNone/>
            </a:pPr>
            <a:r>
              <a:rPr lang="en-US" sz="900" i="1" dirty="0">
                <a:solidFill>
                  <a:srgbClr val="5959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// Nemotron 同配置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6784848" y="2011680"/>
            <a:ext cx="4901184" cy="0"/>
          </a:xfrm>
          <a:prstGeom prst="line">
            <a:avLst/>
          </a:prstGeom>
          <a:noFill/>
          <a:ln w="3175">
            <a:solidFill>
              <a:srgbClr val="BFBFBF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784848" y="2048256"/>
            <a:ext cx="49011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Rollouts / prompt </a:t>
            </a:r>
            <a:pPr indent="0" marL="0">
              <a:buNone/>
            </a:pPr>
            <a:r>
              <a:rPr lang="en-US" sz="950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16  </a:t>
            </a:r>
            <a:pPr indent="0" marL="0">
              <a:buNone/>
            </a:pPr>
            <a:r>
              <a:rPr lang="en-US" sz="900" i="1" dirty="0">
                <a:solidFill>
                  <a:srgbClr val="5959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// 可降到 8 节省算力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6784848" y="2395728"/>
            <a:ext cx="4901184" cy="0"/>
          </a:xfrm>
          <a:prstGeom prst="line">
            <a:avLst/>
          </a:prstGeom>
          <a:noFill/>
          <a:ln w="3175">
            <a:solidFill>
              <a:srgbClr val="BFBFBF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784848" y="2432304"/>
            <a:ext cx="49011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Optimizer </a:t>
            </a:r>
            <a:pPr indent="0" marL="0">
              <a:buNone/>
            </a:pPr>
            <a:r>
              <a:rPr lang="en-US" sz="950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AdamW (β₁=0.9, β₂=0.999)  </a:t>
            </a:r>
            <a:pPr indent="0" marL="0">
              <a:buNone/>
            </a:pPr>
            <a:r>
              <a:rPr lang="en-US" sz="900" i="1" dirty="0">
                <a:solidFill>
                  <a:srgbClr val="5959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// Linear warmup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6784848" y="2779776"/>
            <a:ext cx="4901184" cy="0"/>
          </a:xfrm>
          <a:prstGeom prst="line">
            <a:avLst/>
          </a:prstGeom>
          <a:noFill/>
          <a:ln w="3175">
            <a:solidFill>
              <a:srgbClr val="BFBFBF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784848" y="2816352"/>
            <a:ext cx="49011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Pass-rate filter </a:t>
            </a:r>
            <a:pPr indent="0" marL="0">
              <a:buNone/>
            </a:pPr>
            <a:r>
              <a:rPr lang="en-US" sz="950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0.1 - 0.9  </a:t>
            </a:r>
            <a:pPr indent="0" marL="0">
              <a:buNone/>
            </a:pPr>
            <a:r>
              <a:rPr lang="en-US" sz="900" i="1" dirty="0">
                <a:solidFill>
                  <a:srgbClr val="5959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// AudioQA 收紧到 0.3-0.7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6784848" y="3163824"/>
            <a:ext cx="4901184" cy="0"/>
          </a:xfrm>
          <a:prstGeom prst="line">
            <a:avLst/>
          </a:prstGeom>
          <a:noFill/>
          <a:ln w="3175">
            <a:solidFill>
              <a:srgbClr val="BFBFBF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784848" y="3200400"/>
            <a:ext cx="49011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Verifier 类型 </a:t>
            </a:r>
            <a:pPr indent="0" marL="0">
              <a:buNone/>
            </a:pPr>
            <a:r>
              <a:rPr lang="en-US" sz="950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string-match / mathruler / multiple-choice / gui-coordinate  </a:t>
            </a:r>
            <a:pPr indent="0" marL="0">
              <a:buNone/>
            </a:pPr>
            <a:r>
              <a:rPr lang="en-US" sz="900" i="1" dirty="0">
                <a:solidFill>
                  <a:srgbClr val="5959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// smooth distance for GUI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6784848" y="3547872"/>
            <a:ext cx="4901184" cy="0"/>
          </a:xfrm>
          <a:prstGeom prst="line">
            <a:avLst/>
          </a:prstGeom>
          <a:noFill/>
          <a:ln w="3175">
            <a:solidFill>
              <a:srgbClr val="BFBFBF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784848" y="3584448"/>
            <a:ext cx="49011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Format reward </a:t>
            </a:r>
            <a:pPr indent="0" marL="0">
              <a:buNone/>
            </a:pPr>
            <a:r>
              <a:rPr lang="en-US" sz="950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&lt;think&gt;...&lt;/think&gt; + \boxed{}  </a:t>
            </a:r>
            <a:pPr indent="0" marL="0">
              <a:buNone/>
            </a:pPr>
            <a:r>
              <a:rPr lang="en-US" sz="900" i="1" dirty="0">
                <a:solidFill>
                  <a:srgbClr val="5959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// partial credit ok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6784848" y="3931920"/>
            <a:ext cx="4901184" cy="0"/>
          </a:xfrm>
          <a:prstGeom prst="line">
            <a:avLst/>
          </a:prstGeom>
          <a:noFill/>
          <a:ln w="3175">
            <a:solidFill>
              <a:srgbClr val="BFBFBF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784848" y="3968496"/>
            <a:ext cx="49011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Unanswerable 样本 </a:t>
            </a:r>
            <a:pPr indent="0" marL="0">
              <a:buNone/>
            </a:pPr>
            <a:r>
              <a:rPr lang="en-US" sz="950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保留 ~5%  </a:t>
            </a:r>
            <a:pPr indent="0" marL="0">
              <a:buNone/>
            </a:pPr>
            <a:r>
              <a:rPr lang="en-US" sz="900" i="1" dirty="0">
                <a:solidFill>
                  <a:srgbClr val="5959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// 训 abstention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6784848" y="4315968"/>
            <a:ext cx="4901184" cy="0"/>
          </a:xfrm>
          <a:prstGeom prst="line">
            <a:avLst/>
          </a:prstGeom>
          <a:noFill/>
          <a:ln w="3175">
            <a:solidFill>
              <a:srgbClr val="BFBFBF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6784848" y="4352544"/>
            <a:ext cx="49011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Token embedding </a:t>
            </a:r>
            <a:pPr indent="0" marL="0">
              <a:buNone/>
            </a:pPr>
            <a:r>
              <a:rPr lang="en-US" sz="950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Text-RL S2 时冻结  </a:t>
            </a:r>
            <a:pPr indent="0" marL="0">
              <a:buNone/>
            </a:pPr>
            <a:r>
              <a:rPr lang="en-US" sz="900" i="1" dirty="0">
                <a:solidFill>
                  <a:srgbClr val="5959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// 防漂移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6784848" y="4700016"/>
            <a:ext cx="4901184" cy="0"/>
          </a:xfrm>
          <a:prstGeom prst="line">
            <a:avLst/>
          </a:prstGeom>
          <a:noFill/>
          <a:ln w="3175">
            <a:solidFill>
              <a:srgbClr val="BFBFBF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6784848" y="4736592"/>
            <a:ext cx="49011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Parallelism </a:t>
            </a:r>
            <a:pPr indent="0" marL="0">
              <a:buNone/>
            </a:pPr>
            <a:r>
              <a:rPr lang="en-US" sz="950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TP=2 / EP=32 / CP=2 (S5)  </a:t>
            </a:r>
            <a:pPr indent="0" marL="0">
              <a:buNone/>
            </a:pPr>
            <a:r>
              <a:rPr lang="en-US" sz="900" i="1" dirty="0">
                <a:solidFill>
                  <a:srgbClr val="5959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// B200 + H100 混部</a:t>
            </a:r>
            <a:endParaRPr lang="en-US" sz="1000" dirty="0"/>
          </a:p>
        </p:txBody>
      </p:sp>
      <p:sp>
        <p:nvSpPr>
          <p:cNvPr id="58" name="Shape 56"/>
          <p:cNvSpPr/>
          <p:nvPr/>
        </p:nvSpPr>
        <p:spPr>
          <a:xfrm>
            <a:off x="365760" y="5669280"/>
            <a:ext cx="11430000" cy="914400"/>
          </a:xfrm>
          <a:prstGeom prst="rect">
            <a:avLst/>
          </a:prstGeom>
          <a:solidFill>
            <a:srgbClr val="FFFFFF"/>
          </a:solidFill>
          <a:ln w="19050">
            <a:solidFill>
              <a:srgbClr val="C00000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457200" y="5742432"/>
            <a:ext cx="11247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❶ Text-RL S2 不可省: </a:t>
            </a:r>
            <a:pPr indent="0" marL="0">
              <a:buNone/>
            </a:pPr>
            <a:r>
              <a:rPr lang="en-US" sz="1000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经 Stage 4/5 后文本必有 1-2 pt 漂移,</a:t>
            </a:r>
            <a:pPr indent="0" marL="0">
              <a:buNone/>
            </a:pPr>
            <a:r>
              <a:rPr lang="en-US" sz="1000" b="1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Text-RL S2 是把 MMLU-Pro 拉回 ≤2 pt 红线内的关键修复段</a:t>
            </a:r>
            <a:pPr indent="0" marL="0">
              <a:buNone/>
            </a:pPr>
            <a:pPr indent="0" marL="0">
              <a:buNone/>
            </a:pPr>
            <a:endParaRPr lang="en-US" sz="1100" dirty="0"/>
          </a:p>
        </p:txBody>
      </p:sp>
      <p:sp>
        <p:nvSpPr>
          <p:cNvPr id="60" name="Text 58"/>
          <p:cNvSpPr/>
          <p:nvPr/>
        </p:nvSpPr>
        <p:spPr>
          <a:xfrm>
            <a:off x="457200" y="6016752"/>
            <a:ext cx="11247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❷ Image-RL 是杠杆段: </a:t>
            </a:r>
            <a:pPr indent="0" marL="0">
              <a:buNone/>
            </a:pPr>
            <a:r>
              <a:rPr lang="en-US" sz="1000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ScreenSpot-Pro 类 GUI 任务 </a:t>
            </a:r>
            <a:pPr indent="0" marL="0">
              <a:buNone/>
            </a:pPr>
            <a:r>
              <a:rPr lang="en-US" sz="1000" b="1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几乎全部来自 Image-RL,</a:t>
            </a:r>
            <a:pPr indent="0" marL="0">
              <a:buNone/>
            </a:pPr>
            <a:r>
              <a:rPr lang="en-US" sz="1000" b="1" dirty="0">
                <a:solidFill>
                  <a:srgbClr val="ED7D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+50 个点 </a:t>
            </a:r>
            <a:pPr indent="0" marL="0">
              <a:buNone/>
            </a:pPr>
            <a:r>
              <a:rPr lang="en-US" sz="900" i="1" dirty="0">
                <a:solidFill>
                  <a:srgbClr val="5959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Nemotron 实证</a:t>
            </a:r>
            <a:endParaRPr lang="en-US" sz="1100" dirty="0"/>
          </a:p>
        </p:txBody>
      </p:sp>
      <p:sp>
        <p:nvSpPr>
          <p:cNvPr id="61" name="Text 59"/>
          <p:cNvSpPr/>
          <p:nvPr/>
        </p:nvSpPr>
        <p:spPr>
          <a:xfrm>
            <a:off x="457200" y="6291072"/>
            <a:ext cx="11247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❸ MPO 比纯 DPO 稳: </a:t>
            </a:r>
            <a:pPr indent="0" marL="0">
              <a:buNone/>
            </a:pPr>
            <a:r>
              <a:rPr lang="en-US" sz="1000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MPO = DPO + BCO </a:t>
            </a:r>
            <a:pPr indent="0" marL="0">
              <a:buNone/>
            </a:pPr>
            <a:r>
              <a:rPr lang="en-US" sz="1000" b="1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二元分类奖励混合,</a:t>
            </a:r>
            <a:pPr indent="0" marL="0">
              <a:buNone/>
            </a:pPr>
            <a:r>
              <a:rPr lang="en-US" sz="1000" b="1" dirty="0">
                <a:solidFill>
                  <a:srgbClr val="ED7D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在 ~150K 偏好对上稳定性显著优于纯 DPO</a:t>
            </a:r>
            <a:pPr indent="0" marL="0">
              <a:buNone/>
            </a:pPr>
            <a:endParaRPr lang="en-US" sz="1100" dirty="0"/>
          </a:p>
        </p:txBody>
      </p:sp>
      <p:sp>
        <p:nvSpPr>
          <p:cNvPr id="62" name="Text 60"/>
          <p:cNvSpPr/>
          <p:nvPr/>
        </p:nvSpPr>
        <p:spPr>
          <a:xfrm>
            <a:off x="365760" y="6638544"/>
            <a:ext cx="11430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5959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Source: </a:t>
            </a:r>
            <a:pPr indent="0" marL="0">
              <a:buNone/>
            </a:pPr>
            <a:r>
              <a:rPr lang="en-US" sz="800" i="1" u="sng" dirty="0">
                <a:solidFill>
                  <a:srgbClr val="C00000"/>
                </a:solidFill>
                <a:uFill>
                  <a:solidFill>
                    <a:srgbClr val="C00000"/>
                  </a:solidFill>
                </a:u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Nemotron 5 段 RL pipeline + GSPO 超参</a:t>
            </a:r>
            <a:pPr indent="0" marL="0">
              <a:buNone/>
            </a:pPr>
            <a:r>
              <a:rPr lang="en-US" sz="800" i="1" dirty="0">
                <a:solidFill>
                  <a:srgbClr val="5959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(arxiv 2604.24954) | </a:t>
            </a:r>
            <a:pPr indent="0" marL="0">
              <a:buNone/>
            </a:pPr>
            <a:r>
              <a:rPr lang="en-US" sz="800" i="1" u="sng" dirty="0">
                <a:solidFill>
                  <a:srgbClr val="C00000"/>
                </a:solidFill>
                <a:uFill>
                  <a:solidFill>
                    <a:srgbClr val="C00000"/>
                  </a:solidFill>
                </a:u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MPO = DPO + BCO 配方</a:t>
            </a:r>
            <a:pPr indent="0" marL="0">
              <a:buNone/>
            </a:pPr>
            <a:r>
              <a:rPr lang="en-US" sz="800" i="1" dirty="0">
                <a:solidFill>
                  <a:srgbClr val="5959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(Nemotron paper) | </a:t>
            </a:r>
            <a:pPr indent="0" marL="0">
              <a:buNone/>
            </a:pPr>
            <a:r>
              <a:rPr lang="en-US" sz="800" i="1" u="sng" dirty="0">
                <a:solidFill>
                  <a:srgbClr val="C00000"/>
                </a:solidFill>
                <a:uFill>
                  <a:solidFill>
                    <a:srgbClr val="C00000"/>
                  </a:solidFill>
                </a:u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NVIDIA/NeMo-RL</a:t>
            </a:r>
            <a:pPr indent="0" marL="0">
              <a:buNone/>
            </a:pPr>
            <a:r>
              <a:rPr lang="en-US" sz="800" i="1" dirty="0">
                <a:solidFill>
                  <a:srgbClr val="5959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(开源 RL 框架)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11430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评测红线</a:t>
            </a:r>
            <a:pPr indent="0" marL="0">
              <a:buNone/>
            </a:pPr>
            <a:r>
              <a:rPr lang="en-US" sz="2400" b="1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: </a:t>
            </a:r>
            <a:pPr indent="0" marL="0">
              <a:buNone/>
            </a:pPr>
            <a:r>
              <a:rPr lang="en-US" sz="2200" b="1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MMLU-Pro 损 ≤2 pt 是上线门槛,8 维度 36 项每周自动监控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365760" y="658368"/>
            <a:ext cx="11430000" cy="0"/>
          </a:xfrm>
          <a:prstGeom prst="line">
            <a:avLst/>
          </a:prstGeom>
          <a:noFill/>
          <a:ln w="19050">
            <a:solidFill>
              <a:srgbClr val="C00000"/>
            </a:solidFill>
            <a:prstDash val="solid"/>
          </a:ln>
        </p:spPr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777240"/>
          <a:ext cx="11430000" cy="4617720"/>
        </p:xfrm>
        <a:graphic>
          <a:graphicData uri="http://schemas.openxmlformats.org/drawingml/2006/table">
            <a:tbl>
              <a:tblPr/>
              <a:tblGrid>
                <a:gridCol w="1508760"/>
                <a:gridCol w="2331720"/>
                <a:gridCol w="1463040"/>
                <a:gridCol w="1783080"/>
                <a:gridCol w="2011680"/>
                <a:gridCol w="233172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评测维度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代表 benchmark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基线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(自家 Text base)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Phase 1 目标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(T+6)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Phase 4 目标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(T+24,上线)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红线 / Go-No-Go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2F3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C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文本回归 ★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MMLU-Pro / IFBench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AIME25 / LiveCodeBench v6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100%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(基线)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D7D3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≥ 99%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Stage 1 后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70AD4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≥ 98%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等价 ≤2 pt 损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C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掉 &gt;2 pt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立即 rollback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00B0F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视觉理解综合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MMMU / MM-Vet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MMStar / SEED-Bench-2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—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(无视觉)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D7D3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MMMU 55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对标 LLaVA-OV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70AD4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MMMU 65+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对标 Qwen3-VL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C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MMMU &lt; 50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Phase 1 不通过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00B0F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OCR / 文档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OCRBench-V2 / DocVQA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ChartQA / CharXiv RQ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—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—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D7D3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DocVQA 90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OCRBench 80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70AD4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DocVQA 93+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CharXiv 60+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C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DocVQA &lt; 85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Phase 4 不上线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00B0F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数学 / 推理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MathVista / MathVision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MathVerse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—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—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D7D3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MathVista 65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—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70AD4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MathVista 75+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对标 Qwen3-Omni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—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soft 指标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C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Agent / GUI ★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ScreenSpot-Pro / OSWorld-G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(2026 区分度最高)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—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—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D7D3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SS-Pro 30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Stage 1+RL 前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70AD4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SS-Pro 50+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RL 后,对标 Nemotron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C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SS-Pro &lt; 30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RL 失败信号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7030A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音频理解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OpenASR / MMAU / MMAR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VoiceBench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—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—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D7D3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OpenASR avg WER 8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—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70AD4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WER 7 / MMAU 70+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—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C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WER &gt; 10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Phase 2 不通过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00B0F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视频理解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VideoMME / LongVideoBench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MVBench / NextQA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—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—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D7D3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VideoMME 60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短视频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70AD4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VideoMME 65+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LongVB 60+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D7D3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VideoMME &lt; 55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Phase 3 信号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ED7D3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Omni 端到端 ★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DailyOmni / WorldSense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AVUT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—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—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—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(Phase 2 未跑)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70AD4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DailyOmni 70+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WorldSense 50+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C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DailyOmni &lt; 60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整体未达 SOTA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365760" y="5669280"/>
            <a:ext cx="11430000" cy="914400"/>
          </a:xfrm>
          <a:prstGeom prst="rect">
            <a:avLst/>
          </a:prstGeom>
          <a:solidFill>
            <a:srgbClr val="FFFFFF"/>
          </a:solidFill>
          <a:ln w="19050">
            <a:solidFill>
              <a:srgbClr val="C00000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457200" y="5742432"/>
            <a:ext cx="11247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❶ 三条硬红线: </a:t>
            </a:r>
            <a:pPr indent="0" marL="0">
              <a:buNone/>
            </a:pPr>
            <a:r>
              <a:rPr lang="en-US" sz="1000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MMLU-Pro 损 </a:t>
            </a:r>
            <a:pPr indent="0" marL="0">
              <a:buNone/>
            </a:pPr>
            <a:r>
              <a:rPr lang="en-US" sz="1000" b="1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/ DocVQA ≥ 85 / ScreenSpot-Pro ≥ 30,</a:t>
            </a:r>
            <a:pPr indent="0" marL="0">
              <a:buNone/>
            </a:pPr>
            <a:r>
              <a:rPr lang="en-US" sz="1000" b="1" dirty="0">
                <a:solidFill>
                  <a:srgbClr val="ED7D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≤2 pt </a:t>
            </a:r>
            <a:pPr indent="0" marL="0">
              <a:buNone/>
            </a:pPr>
            <a:r>
              <a:rPr lang="en-US" sz="900" i="1" dirty="0">
                <a:solidFill>
                  <a:srgbClr val="5959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三条同时满足才能进入 Phase 4 RL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457200" y="6016752"/>
            <a:ext cx="11247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❷ 自动化频率: </a:t>
            </a:r>
            <a:pPr indent="0" marL="0">
              <a:buNone/>
            </a:pPr>
            <a:r>
              <a:rPr lang="en-US" sz="1000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Phase 1-3 期间 </a:t>
            </a:r>
            <a:pPr indent="0" marL="0">
              <a:buNone/>
            </a:pPr>
            <a:r>
              <a:rPr lang="en-US" sz="1000" b="1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 1B token 跑 mini-eval,每 5B token 跑全量,</a:t>
            </a:r>
            <a:pPr indent="0" marL="0">
              <a:buNone/>
            </a:pPr>
            <a:r>
              <a:rPr lang="en-US" sz="1000" b="1" dirty="0">
                <a:solidFill>
                  <a:srgbClr val="ED7D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任何回归立即 alert</a:t>
            </a:r>
            <a:pPr indent="0" marL="0">
              <a:buNone/>
            </a:pP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291072"/>
            <a:ext cx="11247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❸ 上线判定: </a:t>
            </a:r>
            <a:pPr indent="0" marL="0">
              <a:buNone/>
            </a:pPr>
            <a:r>
              <a:rPr lang="en-US" sz="1000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T+24 同时满足 </a:t>
            </a:r>
            <a:pPr indent="0" marL="0">
              <a:buNone/>
            </a:pPr>
            <a:r>
              <a:rPr lang="en-US" sz="1000" b="1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MMLU-Pro 98% / MMMU 65 / DocVQA 93 / SS-Pro 50 / DailyOmni 70 </a:t>
            </a:r>
            <a:pPr indent="0" marL="0">
              <a:buNone/>
            </a:pPr>
            <a:r>
              <a:rPr lang="en-US" sz="1000" b="1" dirty="0">
                <a:solidFill>
                  <a:srgbClr val="ED7D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上线;缺 1 项延 2-4 周修补</a:t>
            </a:r>
            <a:pPr indent="0" marL="0">
              <a:buNone/>
            </a:pP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365760" y="6638544"/>
            <a:ext cx="11430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5959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Source: </a:t>
            </a:r>
            <a:pPr indent="0" marL="0">
              <a:buNone/>
            </a:pPr>
            <a:r>
              <a:rPr lang="en-US" sz="800" i="1" u="sng" dirty="0">
                <a:solidFill>
                  <a:srgbClr val="C00000"/>
                </a:solidFill>
                <a:uFill>
                  <a:solidFill>
                    <a:srgbClr val="C00000"/>
                  </a:solidFill>
                </a:u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Nemotron / Qwen3.5 / LongCat 三篇 benchmark</a:t>
            </a:r>
            <a:pPr indent="0" marL="0">
              <a:buNone/>
            </a:pPr>
            <a:r>
              <a:rPr lang="en-US" sz="800" i="1" dirty="0">
                <a:solidFill>
                  <a:srgbClr val="5959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整合 | </a:t>
            </a:r>
            <a:pPr indent="0" marL="0">
              <a:buNone/>
            </a:pPr>
            <a:r>
              <a:rPr lang="en-US" sz="800" i="1" u="sng" dirty="0">
                <a:solidFill>
                  <a:srgbClr val="C00000"/>
                </a:solidFill>
                <a:uFill>
                  <a:solidFill>
                    <a:srgbClr val="C00000"/>
                  </a:solidFill>
                </a:u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VLMEvalKit + 自家 text 评测套件</a:t>
            </a:r>
            <a:pPr indent="0" marL="0">
              <a:buNone/>
            </a:pPr>
            <a:r>
              <a:rPr lang="en-US" sz="800" i="1" dirty="0">
                <a:solidFill>
                  <a:srgbClr val="5959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(内部) | </a:t>
            </a:r>
            <a:pPr indent="0" marL="0">
              <a:buNone/>
            </a:pPr>
            <a:r>
              <a:rPr lang="en-US" sz="800" i="1" u="sng" dirty="0">
                <a:solidFill>
                  <a:srgbClr val="C00000"/>
                </a:solidFill>
                <a:uFill>
                  <a:solidFill>
                    <a:srgbClr val="C00000"/>
                  </a:solidFill>
                </a:u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上线判定标准</a:t>
            </a:r>
            <a:pPr indent="0" marL="0">
              <a:buNone/>
            </a:pPr>
            <a:r>
              <a:rPr lang="en-US" sz="800" i="1" dirty="0">
                <a:solidFill>
                  <a:srgbClr val="5959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(产品 + Eng 内部对齐)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11430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风险 + 决策门</a:t>
            </a:r>
            <a:pPr indent="0" marL="0">
              <a:buNone/>
            </a:pPr>
            <a:r>
              <a:rPr lang="en-US" sz="2400" b="1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: </a:t>
            </a:r>
            <a:pPr indent="0" marL="0">
              <a:buNone/>
            </a:pPr>
            <a:r>
              <a:rPr lang="en-US" sz="2200" b="1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 大风险 / 3 道 go-no-go gate,A/B 路径取决于 ckpt 质量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365760" y="658368"/>
            <a:ext cx="11430000" cy="0"/>
          </a:xfrm>
          <a:prstGeom prst="line">
            <a:avLst/>
          </a:prstGeom>
          <a:noFill/>
          <a:ln w="19050">
            <a:solidFill>
              <a:srgbClr val="C000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777240"/>
            <a:ext cx="3749040" cy="1691640"/>
          </a:xfrm>
          <a:prstGeom prst="rect">
            <a:avLst/>
          </a:prstGeom>
          <a:solidFill>
            <a:srgbClr val="FFFFFF"/>
          </a:solidFill>
          <a:ln w="19050">
            <a:solidFill>
              <a:srgbClr val="ED7D3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777240"/>
            <a:ext cx="3749040" cy="365760"/>
          </a:xfrm>
          <a:prstGeom prst="rect">
            <a:avLst/>
          </a:prstGeom>
          <a:solidFill>
            <a:srgbClr val="ED7D31"/>
          </a:solidFill>
          <a:ln w="12700">
            <a:solidFill>
              <a:srgbClr val="ED7D3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813816"/>
            <a:ext cx="3566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Gate 1: ckpt Sanity</a:t>
            </a:r>
            <a:pPr indent="0" marL="0">
              <a:buNone/>
            </a:pPr>
            <a:r>
              <a:rPr lang="en-US" sz="1100" i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 T = 0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75488" y="1188720"/>
            <a:ext cx="35295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D7D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</a:t>
            </a:r>
            <a:pPr indent="0" marL="0">
              <a:buNone/>
            </a:pPr>
            <a:r>
              <a:rPr lang="en-US" sz="950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MMLU-Pro 与预训练 team 报告差 ≤ 0.5 pt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75488" y="1380744"/>
            <a:ext cx="35295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D7D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</a:t>
            </a:r>
            <a:pPr indent="0" marL="0">
              <a:buNone/>
            </a:pPr>
            <a:r>
              <a:rPr lang="en-US" sz="950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ChatML 模板兼容,词表完整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75488" y="1572768"/>
            <a:ext cx="35295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D7D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</a:t>
            </a:r>
            <a:pPr indent="0" marL="0">
              <a:buNone/>
            </a:pPr>
            <a:r>
              <a:rPr lang="en-US" sz="950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无 NaN / 无重复 token 退化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75488" y="1764792"/>
            <a:ext cx="35295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D7D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</a:t>
            </a:r>
            <a:pPr indent="0" marL="0">
              <a:buNone/>
            </a:pPr>
            <a:r>
              <a:rPr lang="en-US" sz="950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 Qwen2.5 类比模型上 sanity 通过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" y="1947672"/>
            <a:ext cx="3566160" cy="0"/>
          </a:xfrm>
          <a:prstGeom prst="line">
            <a:avLst/>
          </a:prstGeom>
          <a:noFill/>
          <a:ln w="6350">
            <a:solidFill>
              <a:srgbClr val="BFBFB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5488" y="1965960"/>
            <a:ext cx="3529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0AD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PASS  </a:t>
            </a:r>
            <a:pPr indent="0" marL="0">
              <a:buNone/>
            </a:pPr>
            <a:r>
              <a:rPr lang="en-US" sz="950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启动 Phase 1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75488" y="2185416"/>
            <a:ext cx="3529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FAIL  </a:t>
            </a:r>
            <a:pPr indent="0" marL="0">
              <a:buNone/>
            </a:pPr>
            <a:r>
              <a:rPr lang="en-US" sz="950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与预训练 team 排查 1 周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206240" y="777240"/>
            <a:ext cx="3749040" cy="1691640"/>
          </a:xfrm>
          <a:prstGeom prst="rect">
            <a:avLst/>
          </a:prstGeom>
          <a:solidFill>
            <a:srgbClr val="FFFFFF"/>
          </a:solidFill>
          <a:ln w="19050">
            <a:solidFill>
              <a:srgbClr val="C0000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206240" y="777240"/>
            <a:ext cx="3749040" cy="365760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297680" y="813816"/>
            <a:ext cx="3566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Gate 2: Phase 1 SFT</a:t>
            </a:r>
            <a:pPr indent="0" marL="0">
              <a:buNone/>
            </a:pPr>
            <a:r>
              <a:rPr lang="en-US" sz="1100" i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 T+6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315968" y="1188720"/>
            <a:ext cx="35295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</a:t>
            </a:r>
            <a:pPr indent="0" marL="0">
              <a:buNone/>
            </a:pPr>
            <a:r>
              <a:rPr lang="en-US" sz="950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MMLU-Pro 损 ≤ 1 pt (Stage 0/1 后)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315968" y="1380744"/>
            <a:ext cx="35295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</a:t>
            </a:r>
            <a:pPr indent="0" marL="0">
              <a:buNone/>
            </a:pPr>
            <a:r>
              <a:rPr lang="en-US" sz="950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MMMU ≥ 55,DocVQA ≥ 85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315968" y="1572768"/>
            <a:ext cx="35295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</a:t>
            </a:r>
            <a:pPr indent="0" marL="0">
              <a:buNone/>
            </a:pPr>
            <a:r>
              <a:rPr lang="en-US" sz="950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ScreenSpot-Pro ≥ 25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315968" y="1764792"/>
            <a:ext cx="35295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</a:t>
            </a:r>
            <a:pPr indent="0" marL="0">
              <a:buNone/>
            </a:pPr>
            <a:r>
              <a:rPr lang="en-US" sz="950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训练曲线无明显发散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297680" y="1947672"/>
            <a:ext cx="3566160" cy="0"/>
          </a:xfrm>
          <a:prstGeom prst="line">
            <a:avLst/>
          </a:prstGeom>
          <a:noFill/>
          <a:ln w="6350">
            <a:solidFill>
              <a:srgbClr val="BFBFB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315968" y="1965960"/>
            <a:ext cx="3529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0AD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PASS  </a:t>
            </a:r>
            <a:pPr indent="0" marL="0">
              <a:buNone/>
            </a:pPr>
            <a:r>
              <a:rPr lang="en-US" sz="950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启动 Phase 2 (Audio + Omni)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315968" y="2185416"/>
            <a:ext cx="3529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FAIL  </a:t>
            </a:r>
            <a:pPr indent="0" marL="0">
              <a:buNone/>
            </a:pPr>
            <a:r>
              <a:rPr lang="en-US" sz="950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rollback 到 Stage 0,补数据 1-2 周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8046720" y="777240"/>
            <a:ext cx="3749040" cy="1691640"/>
          </a:xfrm>
          <a:prstGeom prst="rect">
            <a:avLst/>
          </a:prstGeom>
          <a:solidFill>
            <a:srgbClr val="FFFFFF"/>
          </a:solidFill>
          <a:ln w="19050">
            <a:solidFill>
              <a:srgbClr val="7030A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046720" y="777240"/>
            <a:ext cx="3749040" cy="365760"/>
          </a:xfrm>
          <a:prstGeom prst="rect">
            <a:avLst/>
          </a:prstGeom>
          <a:solidFill>
            <a:srgbClr val="7030A0"/>
          </a:solidFill>
          <a:ln w="12700">
            <a:solidFill>
              <a:srgbClr val="7030A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138160" y="813816"/>
            <a:ext cx="3566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Gate 3: Phase 4 RL</a:t>
            </a:r>
            <a:pPr indent="0" marL="0">
              <a:buNone/>
            </a:pPr>
            <a:r>
              <a:rPr lang="en-US" sz="1100" i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 T+18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8156448" y="1188720"/>
            <a:ext cx="35295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030A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</a:t>
            </a:r>
            <a:pPr indent="0" marL="0">
              <a:buNone/>
            </a:pPr>
            <a:r>
              <a:rPr lang="en-US" sz="950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RL 后 MMLU-Pro 损 ≤ 2 pt(若 &gt;2 加 Text-RL S2)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8156448" y="1380744"/>
            <a:ext cx="35295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030A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</a:t>
            </a:r>
            <a:pPr indent="0" marL="0">
              <a:buNone/>
            </a:pPr>
            <a:r>
              <a:rPr lang="en-US" sz="950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ScreenSpot-Pro ≥ 50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8156448" y="1572768"/>
            <a:ext cx="35295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030A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</a:t>
            </a:r>
            <a:pPr indent="0" marL="0">
              <a:buNone/>
            </a:pPr>
            <a:r>
              <a:rPr lang="en-US" sz="950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DailyOmni ≥ 70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8156448" y="1764792"/>
            <a:ext cx="35295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030A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</a:t>
            </a:r>
            <a:pPr indent="0" marL="0">
              <a:buNone/>
            </a:pPr>
            <a:r>
              <a:rPr lang="en-US" sz="950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无幻觉爆发(POPE &gt; 90)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8138160" y="1947672"/>
            <a:ext cx="3566160" cy="0"/>
          </a:xfrm>
          <a:prstGeom prst="line">
            <a:avLst/>
          </a:prstGeom>
          <a:noFill/>
          <a:ln w="6350">
            <a:solidFill>
              <a:srgbClr val="BFBFB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156448" y="1965960"/>
            <a:ext cx="3529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0AD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PASS  </a:t>
            </a:r>
            <a:pPr indent="0" marL="0">
              <a:buNone/>
            </a:pPr>
            <a:r>
              <a:rPr lang="en-US" sz="950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T+24 上线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8156448" y="2185416"/>
            <a:ext cx="3529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FAIL  </a:t>
            </a:r>
            <a:pPr indent="0" marL="0">
              <a:buNone/>
            </a:pPr>
            <a:r>
              <a:rPr lang="en-US" sz="950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补 Omni-RL 段或 rollback 到 SFT-only 上线</a:t>
            </a:r>
            <a:endParaRPr lang="en-US" sz="10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2606040"/>
          <a:ext cx="11430000" cy="2834640"/>
        </p:xfrm>
        <a:graphic>
          <a:graphicData uri="http://schemas.openxmlformats.org/drawingml/2006/table">
            <a:tbl>
              <a:tblPr/>
              <a:tblGrid>
                <a:gridCol w="2834640"/>
                <a:gridCol w="1188720"/>
                <a:gridCol w="1371600"/>
                <a:gridCol w="2194560"/>
                <a:gridCol w="3840480"/>
              </a:tblGrid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风险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概率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影响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早期信号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Mitigation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2F3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ED7D3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R1: ckpt 是 dense 不是 MoE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D7D3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中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30%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C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高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+4-6 周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T-12 对齐时即可知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—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D7D3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提前准备 upcycling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代码,加 Phase 0.5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C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R2: 预训练 team 不给 text 同分布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C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中高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40%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C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高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文本必漂移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C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T-8 仍未到位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立 alert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C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退化到公开 Nemotron-text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文本数据,损 ~3 pt 接受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ED7D3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R3: tokenizer 需扩词表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D7D3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中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50%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D7D3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中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前 1-2 ep 不稳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Stage 0 loss 高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—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D7D3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新 token embedding 用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近义 token 平均初始化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ED7D3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R4: ScreenSpot-Pro RL 不收敛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D7D3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中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30%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D7D3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中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agent 能力差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Image-RL pass-rate 低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—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D7D3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加 GUI 自标偏好 ~20K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+ ScreenSpot 训练数据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ED7D3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R5: B200 集群档期冲突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D7D3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中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30%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D7D3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中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RL 推迟 2-4 周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F38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T+10 资源未锁定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—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D7D3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退化到 H100 跑 RL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BS 减半,周期 +50%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35" name="Shape 32"/>
          <p:cNvSpPr/>
          <p:nvPr/>
        </p:nvSpPr>
        <p:spPr>
          <a:xfrm>
            <a:off x="365760" y="5669280"/>
            <a:ext cx="11430000" cy="914400"/>
          </a:xfrm>
          <a:prstGeom prst="rect">
            <a:avLst/>
          </a:prstGeom>
          <a:solidFill>
            <a:srgbClr val="FFFFFF"/>
          </a:solidFill>
          <a:ln w="19050">
            <a:solidFill>
              <a:srgbClr val="C00000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457200" y="5742432"/>
            <a:ext cx="11247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❶ A/B 路径取决于 ckpt: </a:t>
            </a:r>
            <a:pPr indent="0" marL="0">
              <a:buNone/>
            </a:pPr>
            <a:r>
              <a:rPr lang="en-US" sz="1000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若 ckpt 是 MoE 且预训练 team 提供 text 数据 → </a:t>
            </a:r>
            <a:pPr indent="0" marL="0">
              <a:buNone/>
            </a:pPr>
            <a:r>
              <a:rPr lang="en-US" sz="1000" b="1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Path A 走完整 Lite 配方;</a:t>
            </a:r>
            <a:pPr indent="0" marL="0">
              <a:buNone/>
            </a:pPr>
            <a:r>
              <a:rPr lang="en-US" sz="1000" b="1" dirty="0">
                <a:solidFill>
                  <a:srgbClr val="ED7D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否则 Path B 跑简化版 + 接受 ~3 pt 文本损</a:t>
            </a:r>
            <a:pPr indent="0" marL="0">
              <a:buNone/>
            </a:pPr>
            <a:endParaRPr lang="en-US" sz="1100" dirty="0"/>
          </a:p>
        </p:txBody>
      </p:sp>
      <p:sp>
        <p:nvSpPr>
          <p:cNvPr id="37" name="Text 34"/>
          <p:cNvSpPr/>
          <p:nvPr/>
        </p:nvSpPr>
        <p:spPr>
          <a:xfrm>
            <a:off x="457200" y="6016752"/>
            <a:ext cx="11247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❷ 三道 gate 不可跳: </a:t>
            </a:r>
            <a:pPr indent="0" marL="0">
              <a:buNone/>
            </a:pPr>
            <a:r>
              <a:rPr lang="en-US" sz="1000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任何 gate 不通过都不能强推下一阶段;</a:t>
            </a:r>
            <a:pPr indent="0" marL="0">
              <a:buNone/>
            </a:pPr>
            <a:r>
              <a:rPr lang="en-US" sz="1000" b="1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Gate 2 fail 后续概率 80% 失败,</a:t>
            </a:r>
            <a:pPr indent="0" marL="0">
              <a:buNone/>
            </a:pPr>
            <a:r>
              <a:rPr lang="en-US" sz="1000" b="1" dirty="0">
                <a:solidFill>
                  <a:srgbClr val="ED7D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立即 rollback 比硬撑省 4 周</a:t>
            </a:r>
            <a:pPr indent="0" marL="0">
              <a:buNone/>
            </a:pPr>
            <a:endParaRPr lang="en-US" sz="1100" dirty="0"/>
          </a:p>
        </p:txBody>
      </p:sp>
      <p:sp>
        <p:nvSpPr>
          <p:cNvPr id="38" name="Text 35"/>
          <p:cNvSpPr/>
          <p:nvPr/>
        </p:nvSpPr>
        <p:spPr>
          <a:xfrm>
            <a:off x="457200" y="6291072"/>
            <a:ext cx="11247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❸ 最大风险是 R2: </a:t>
            </a:r>
            <a:pPr indent="0" marL="0">
              <a:buNone/>
            </a:pPr>
            <a:r>
              <a:rPr lang="en-US" sz="1000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预训练 team 不给 text 同分布数据是 </a:t>
            </a:r>
            <a:pPr indent="0" marL="0">
              <a:buNone/>
            </a:pPr>
            <a:r>
              <a:rPr lang="en-US" sz="1000" b="1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组合,T-12 必须签 SLA</a:t>
            </a:r>
            <a:pPr indent="0" marL="0">
              <a:buNone/>
            </a:pPr>
            <a:r>
              <a:rPr lang="en-US" sz="1000" b="1" dirty="0">
                <a:solidFill>
                  <a:srgbClr val="ED7D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40% 概率 + 高影响 </a:t>
            </a:r>
            <a:pPr indent="0" marL="0">
              <a:buNone/>
            </a:pPr>
            <a:endParaRPr lang="en-US" sz="1100" dirty="0"/>
          </a:p>
        </p:txBody>
      </p:sp>
      <p:sp>
        <p:nvSpPr>
          <p:cNvPr id="39" name="Text 36"/>
          <p:cNvSpPr/>
          <p:nvPr/>
        </p:nvSpPr>
        <p:spPr>
          <a:xfrm>
            <a:off x="365760" y="6638544"/>
            <a:ext cx="11430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5959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Source: </a:t>
            </a:r>
            <a:pPr indent="0" marL="0">
              <a:buNone/>
            </a:pPr>
            <a:r>
              <a:rPr lang="en-US" sz="800" i="1" u="sng" dirty="0">
                <a:solidFill>
                  <a:srgbClr val="C00000"/>
                </a:solidFill>
                <a:uFill>
                  <a:solidFill>
                    <a:srgbClr val="C00000"/>
                  </a:solidFill>
                </a:u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三篇 reference design 风险点</a:t>
            </a:r>
            <a:pPr indent="0" marL="0">
              <a:buNone/>
            </a:pPr>
            <a:r>
              <a:rPr lang="en-US" sz="800" i="1" dirty="0">
                <a:solidFill>
                  <a:srgbClr val="5959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(Nemotron text-RL S2 / Qwen3.5 OPD) | </a:t>
            </a:r>
            <a:pPr indent="0" marL="0">
              <a:buNone/>
            </a:pPr>
            <a:r>
              <a:rPr lang="en-US" sz="800" i="1" u="sng" dirty="0">
                <a:solidFill>
                  <a:srgbClr val="C00000"/>
                </a:solidFill>
                <a:uFill>
                  <a:solidFill>
                    <a:srgbClr val="C00000"/>
                  </a:solidFill>
                </a:u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内部 risk register</a:t>
            </a:r>
            <a:pPr indent="0" marL="0">
              <a:buNone/>
            </a:pPr>
            <a:r>
              <a:rPr lang="en-US" sz="800" i="1" dirty="0">
                <a:solidFill>
                  <a:srgbClr val="5959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(基于 dense vs MoE 配置 + 团队历史项目)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Omni 理解后训练实验计划 2026 H2</dc:title>
  <dc:subject>PptxGenJS Presentation</dc:subject>
  <dc:creator>Post-Training Team</dc:creator>
  <cp:lastModifiedBy>Post-Training Team</cp:lastModifiedBy>
  <cp:revision>1</cp:revision>
  <dcterms:created xsi:type="dcterms:W3CDTF">2026-05-05T21:11:15Z</dcterms:created>
  <dcterms:modified xsi:type="dcterms:W3CDTF">2026-05-05T21:11:15Z</dcterms:modified>
</cp:coreProperties>
</file>